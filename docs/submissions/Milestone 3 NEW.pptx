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0" r:id="rId4"/>
  </p:sldMasterIdLst>
  <p:notesMasterIdLst>
    <p:notesMasterId r:id="rId20"/>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13110A-C1B4-46C8-8BB8-AA450C366C1E}" v="1" dt="2025-12-03T21:03:08.367"/>
    <p1510:client id="{CF4B1CCA-03E1-43A8-8AA3-DC845DB97AFC}" v="2" dt="2025-12-03T19:44:29.0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kobie Garcia" userId="21439106-329e-4a50-a78b-c4117e19ed32" providerId="ADAL" clId="{930D9E01-2E14-422D-AF9B-D458DEE92F28}"/>
    <pc:docChg chg="modSld">
      <pc:chgData name="Dakobie Garcia" userId="21439106-329e-4a50-a78b-c4117e19ed32" providerId="ADAL" clId="{930D9E01-2E14-422D-AF9B-D458DEE92F28}" dt="2025-12-03T21:03:08.367" v="0" actId="14734"/>
      <pc:docMkLst>
        <pc:docMk/>
      </pc:docMkLst>
      <pc:sldChg chg="modSp mod">
        <pc:chgData name="Dakobie Garcia" userId="21439106-329e-4a50-a78b-c4117e19ed32" providerId="ADAL" clId="{930D9E01-2E14-422D-AF9B-D458DEE92F28}" dt="2025-12-03T21:03:08.367" v="0" actId="14734"/>
        <pc:sldMkLst>
          <pc:docMk/>
          <pc:sldMk cId="4230546481" sldId="266"/>
        </pc:sldMkLst>
        <pc:graphicFrameChg chg="modGraphic">
          <ac:chgData name="Dakobie Garcia" userId="21439106-329e-4a50-a78b-c4117e19ed32" providerId="ADAL" clId="{930D9E01-2E14-422D-AF9B-D458DEE92F28}" dt="2025-12-03T21:03:08.367" v="0" actId="14734"/>
          <ac:graphicFrameMkLst>
            <pc:docMk/>
            <pc:sldMk cId="4230546481" sldId="266"/>
            <ac:graphicFrameMk id="5" creationId="{43029D6D-6F3B-13E9-440B-F0703E79B678}"/>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73DF56-2704-4522-A1D6-19C2F95867C9}" type="datetimeFigureOut">
              <a:rPr lang="en-US" smtClean="0"/>
              <a:t>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56623E-7AB4-42EA-B398-F9FCE49DA329}" type="slidenum">
              <a:rPr lang="en-US" smtClean="0"/>
              <a:t>‹#›</a:t>
            </a:fld>
            <a:endParaRPr lang="en-US"/>
          </a:p>
        </p:txBody>
      </p:sp>
    </p:spTree>
    <p:extLst>
      <p:ext uri="{BB962C8B-B14F-4D97-AF65-F5344CB8AC3E}">
        <p14:creationId xmlns:p14="http://schemas.microsoft.com/office/powerpoint/2010/main" val="15522088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D3B3C7E-BC2D-4436-8B03-AC421FA66787}"/>
              </a:ext>
            </a:extLst>
          </p:cNvPr>
          <p:cNvSpPr/>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66887E-4265-46F7-9DE0-605FFFC90761}"/>
              </a:ext>
            </a:extLst>
          </p:cNvPr>
          <p:cNvSpPr>
            <a:spLocks noGrp="1"/>
          </p:cNvSpPr>
          <p:nvPr>
            <p:ph type="ctrTitle" hasCustomPrompt="1"/>
          </p:nvPr>
        </p:nvSpPr>
        <p:spPr>
          <a:xfrm>
            <a:off x="2035130" y="1066800"/>
            <a:ext cx="8112369" cy="2073119"/>
          </a:xfrm>
        </p:spPr>
        <p:txBody>
          <a:bodyPr anchor="b">
            <a:normAutofit/>
          </a:bodyPr>
          <a:lstStyle>
            <a:lvl1pPr algn="ctr">
              <a:lnSpc>
                <a:spcPct val="110000"/>
              </a:lnSpc>
              <a:defRPr sz="2800" cap="all" spc="390" baseline="0"/>
            </a:lvl1pPr>
          </a:lstStyle>
          <a:p>
            <a:r>
              <a:rPr lang="en-US"/>
              <a:t>CLICK TO EDIT MASTER TITLE STYLE</a:t>
            </a:r>
          </a:p>
        </p:txBody>
      </p:sp>
      <p:sp>
        <p:nvSpPr>
          <p:cNvPr id="3" name="Subtitle 2">
            <a:extLst>
              <a:ext uri="{FF2B5EF4-FFF2-40B4-BE49-F238E27FC236}">
                <a16:creationId xmlns:a16="http://schemas.microsoft.com/office/drawing/2014/main" id="{7EDB1A74-54F5-45CA-8922-87FFD57515D4}"/>
              </a:ext>
            </a:extLst>
          </p:cNvPr>
          <p:cNvSpPr>
            <a:spLocks noGrp="1"/>
          </p:cNvSpPr>
          <p:nvPr>
            <p:ph type="subTitle" idx="1"/>
          </p:nvPr>
        </p:nvSpPr>
        <p:spPr>
          <a:xfrm>
            <a:off x="2175804" y="4876802"/>
            <a:ext cx="7821637" cy="1028697"/>
          </a:xfrm>
        </p:spPr>
        <p:txBody>
          <a:bodyPr>
            <a:normAutofit/>
          </a:bodyPr>
          <a:lstStyle>
            <a:lvl1pPr marL="0" indent="0" algn="ct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B6BE6EF-9D0F-4ABF-B92C-E967FE3F16CF}"/>
              </a:ext>
            </a:extLst>
          </p:cNvPr>
          <p:cNvSpPr>
            <a:spLocks noGrp="1"/>
          </p:cNvSpPr>
          <p:nvPr>
            <p:ph type="dt" sz="half" idx="10"/>
          </p:nvPr>
        </p:nvSpPr>
        <p:spPr/>
        <p:txBody>
          <a:bodyPr/>
          <a:lstStyle/>
          <a:p>
            <a:fld id="{2DC20745-208A-4C43-B9BB-5BF291546789}" type="datetime1">
              <a:rPr lang="en-US" smtClean="0"/>
              <a:t>12/3/2025</a:t>
            </a:fld>
            <a:endParaRPr lang="en-US"/>
          </a:p>
        </p:txBody>
      </p:sp>
      <p:sp>
        <p:nvSpPr>
          <p:cNvPr id="5" name="Footer Placeholder 4">
            <a:extLst>
              <a:ext uri="{FF2B5EF4-FFF2-40B4-BE49-F238E27FC236}">
                <a16:creationId xmlns:a16="http://schemas.microsoft.com/office/drawing/2014/main" id="{4E4AB150-954C-4F02-89AC-DA7163D75C39}"/>
              </a:ext>
            </a:extLst>
          </p:cNvPr>
          <p:cNvSpPr>
            <a:spLocks noGrp="1"/>
          </p:cNvSpPr>
          <p:nvPr>
            <p:ph type="ftr" sz="quarter" idx="11"/>
          </p:nvPr>
        </p:nvSpPr>
        <p:spPr>
          <a:xfrm>
            <a:off x="7279965" y="6245352"/>
            <a:ext cx="4114800" cy="365125"/>
          </a:xfrm>
        </p:spPr>
        <p:txBody>
          <a:bodyPr/>
          <a:lstStyle/>
          <a:p>
            <a:r>
              <a:rPr lang="en-US"/>
              <a:t>Slide 4 of 14</a:t>
            </a:r>
          </a:p>
        </p:txBody>
      </p:sp>
      <p:sp>
        <p:nvSpPr>
          <p:cNvPr id="6" name="Slide Number Placeholder 5">
            <a:extLst>
              <a:ext uri="{FF2B5EF4-FFF2-40B4-BE49-F238E27FC236}">
                <a16:creationId xmlns:a16="http://schemas.microsoft.com/office/drawing/2014/main" id="{E8E16270-CBD7-4ACC-BFC5-9CADE7226688}"/>
              </a:ext>
            </a:extLst>
          </p:cNvPr>
          <p:cNvSpPr>
            <a:spLocks noGrp="1"/>
          </p:cNvSpPr>
          <p:nvPr>
            <p:ph type="sldNum" sz="quarter" idx="12"/>
          </p:nvPr>
        </p:nvSpPr>
        <p:spPr/>
        <p:txBody>
          <a:bodyPr/>
          <a:lstStyle/>
          <a:p>
            <a:fld id="{19590046-DA73-4BBF-84B5-C08E6F75191A}" type="slidenum">
              <a:rPr lang="en-US" smtClean="0"/>
              <a:t>‹#›</a:t>
            </a:fld>
            <a:endParaRPr lang="en-US"/>
          </a:p>
        </p:txBody>
      </p:sp>
      <p:grpSp>
        <p:nvGrpSpPr>
          <p:cNvPr id="7" name="Group 6">
            <a:extLst>
              <a:ext uri="{FF2B5EF4-FFF2-40B4-BE49-F238E27FC236}">
                <a16:creationId xmlns:a16="http://schemas.microsoft.com/office/drawing/2014/main" id="{79B5D0C1-066E-4C02-A6B8-59FAE4A19724}"/>
              </a:ext>
            </a:extLst>
          </p:cNvPr>
          <p:cNvGrpSpPr/>
          <p:nvPr/>
        </p:nvGrpSpPr>
        <p:grpSpPr>
          <a:xfrm>
            <a:off x="5662258" y="4240546"/>
            <a:ext cx="867485" cy="115439"/>
            <a:chOff x="8910933" y="1861308"/>
            <a:chExt cx="867485" cy="115439"/>
          </a:xfrm>
        </p:grpSpPr>
        <p:sp>
          <p:nvSpPr>
            <p:cNvPr id="8" name="Rectangle 7">
              <a:extLst>
                <a:ext uri="{FF2B5EF4-FFF2-40B4-BE49-F238E27FC236}">
                  <a16:creationId xmlns:a16="http://schemas.microsoft.com/office/drawing/2014/main" id="{D4386904-AFDC-449E-8D1B-906B305EBDA7}"/>
                </a:ext>
              </a:extLst>
            </p:cNvPr>
            <p:cNvSpPr/>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9" name="Straight Connector 8">
              <a:extLst>
                <a:ext uri="{FF2B5EF4-FFF2-40B4-BE49-F238E27FC236}">
                  <a16:creationId xmlns:a16="http://schemas.microsoft.com/office/drawing/2014/main" id="{F70778F2-11E8-428C-8324-479CA9D6FE92}"/>
                </a:ext>
              </a:extLst>
            </p:cNvPr>
            <p:cNvCxnSpPr/>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A0BE89E-CB2D-48BA-A8D2-533FAAAA725F}"/>
                </a:ext>
              </a:extLst>
            </p:cNvPr>
            <p:cNvCxnSpPr/>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86260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2DC87-4B97-4A7C-BC4C-6E77245616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B59FD9-57FD-4ABA-9FCD-7954052534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7BD40E-B0AA-47B8-900F-488A8AEC1BC2}"/>
              </a:ext>
            </a:extLst>
          </p:cNvPr>
          <p:cNvSpPr>
            <a:spLocks noGrp="1"/>
          </p:cNvSpPr>
          <p:nvPr>
            <p:ph type="dt" sz="half" idx="10"/>
          </p:nvPr>
        </p:nvSpPr>
        <p:spPr/>
        <p:txBody>
          <a:bodyPr/>
          <a:lstStyle/>
          <a:p>
            <a:fld id="{91076571-54D2-490F-BD9A-A665A1AE8907}" type="datetime1">
              <a:rPr lang="en-US" smtClean="0"/>
              <a:t>12/3/2025</a:t>
            </a:fld>
            <a:endParaRPr lang="en-US"/>
          </a:p>
        </p:txBody>
      </p:sp>
      <p:sp>
        <p:nvSpPr>
          <p:cNvPr id="5" name="Footer Placeholder 4">
            <a:extLst>
              <a:ext uri="{FF2B5EF4-FFF2-40B4-BE49-F238E27FC236}">
                <a16:creationId xmlns:a16="http://schemas.microsoft.com/office/drawing/2014/main" id="{865E623C-1E35-4485-A5B4-A71969BE706F}"/>
              </a:ext>
            </a:extLst>
          </p:cNvPr>
          <p:cNvSpPr>
            <a:spLocks noGrp="1"/>
          </p:cNvSpPr>
          <p:nvPr>
            <p:ph type="ftr" sz="quarter" idx="11"/>
          </p:nvPr>
        </p:nvSpPr>
        <p:spPr/>
        <p:txBody>
          <a:bodyPr/>
          <a:lstStyle/>
          <a:p>
            <a:r>
              <a:rPr lang="en-US"/>
              <a:t>Slide 4 of 14</a:t>
            </a:r>
          </a:p>
        </p:txBody>
      </p:sp>
      <p:sp>
        <p:nvSpPr>
          <p:cNvPr id="6" name="Slide Number Placeholder 5">
            <a:extLst>
              <a:ext uri="{FF2B5EF4-FFF2-40B4-BE49-F238E27FC236}">
                <a16:creationId xmlns:a16="http://schemas.microsoft.com/office/drawing/2014/main" id="{4B5C6BB9-EF4F-465E-985B-34521F68C583}"/>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195146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87F5577-D71B-4279-B07A-62F703E5D1DC}"/>
              </a:ext>
            </a:extLst>
          </p:cNvPr>
          <p:cNvSpPr>
            <a:spLocks noGrp="1"/>
          </p:cNvSpPr>
          <p:nvPr>
            <p:ph type="dt" sz="half" idx="10"/>
          </p:nvPr>
        </p:nvSpPr>
        <p:spPr/>
        <p:txBody>
          <a:bodyPr/>
          <a:lstStyle/>
          <a:p>
            <a:fld id="{7DCF60C4-D717-4C0C-9C1B-32870CA99291}" type="datetime1">
              <a:rPr lang="en-US" smtClean="0"/>
              <a:t>12/3/2025</a:t>
            </a:fld>
            <a:endParaRPr lang="en-US"/>
          </a:p>
        </p:txBody>
      </p:sp>
      <p:sp>
        <p:nvSpPr>
          <p:cNvPr id="5" name="Footer Placeholder 4">
            <a:extLst>
              <a:ext uri="{FF2B5EF4-FFF2-40B4-BE49-F238E27FC236}">
                <a16:creationId xmlns:a16="http://schemas.microsoft.com/office/drawing/2014/main" id="{F648367D-C35C-4023-BEBE-F834D033B0CC}"/>
              </a:ext>
            </a:extLst>
          </p:cNvPr>
          <p:cNvSpPr>
            <a:spLocks noGrp="1"/>
          </p:cNvSpPr>
          <p:nvPr>
            <p:ph type="ftr" sz="quarter" idx="11"/>
          </p:nvPr>
        </p:nvSpPr>
        <p:spPr/>
        <p:txBody>
          <a:bodyPr/>
          <a:lstStyle/>
          <a:p>
            <a:r>
              <a:rPr lang="en-US"/>
              <a:t>Slide 4 of 14</a:t>
            </a:r>
          </a:p>
        </p:txBody>
      </p:sp>
      <p:sp>
        <p:nvSpPr>
          <p:cNvPr id="6" name="Slide Number Placeholder 5">
            <a:extLst>
              <a:ext uri="{FF2B5EF4-FFF2-40B4-BE49-F238E27FC236}">
                <a16:creationId xmlns:a16="http://schemas.microsoft.com/office/drawing/2014/main" id="{22BFCF8A-B8C6-496A-98A5-BBB52DB70F16}"/>
              </a:ext>
            </a:extLst>
          </p:cNvPr>
          <p:cNvSpPr>
            <a:spLocks noGrp="1"/>
          </p:cNvSpPr>
          <p:nvPr>
            <p:ph type="sldNum" sz="quarter" idx="12"/>
          </p:nvPr>
        </p:nvSpPr>
        <p:spPr/>
        <p:txBody>
          <a:bodyPr/>
          <a:lstStyle/>
          <a:p>
            <a:fld id="{19590046-DA73-4BBF-84B5-C08E6F75191A}" type="slidenum">
              <a:rPr lang="en-US" smtClean="0"/>
              <a:t>‹#›</a:t>
            </a:fld>
            <a:endParaRPr lang="en-US"/>
          </a:p>
        </p:txBody>
      </p:sp>
      <p:sp>
        <p:nvSpPr>
          <p:cNvPr id="11" name="Rectangle 5">
            <a:extLst>
              <a:ext uri="{FF2B5EF4-FFF2-40B4-BE49-F238E27FC236}">
                <a16:creationId xmlns:a16="http://schemas.microsoft.com/office/drawing/2014/main" id="{CDE45C10-227D-42DF-A888-EEFD3784FA8E}"/>
              </a:ext>
              <a:ext uri="{C183D7F6-B498-43B3-948B-1728B52AA6E4}">
                <adec:decorative xmlns:adec="http://schemas.microsoft.com/office/drawing/2017/decorative" val="1"/>
              </a:ext>
            </a:extLst>
          </p:cNvPr>
          <p:cNvSpPr/>
          <p:nvPr/>
        </p:nvSpPr>
        <p:spPr>
          <a:xfrm>
            <a:off x="723900" y="750338"/>
            <a:ext cx="4580642" cy="5494694"/>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6096000 w 6096000"/>
              <a:gd name="connsiteY2" fmla="*/ 6858000 h 6858000"/>
              <a:gd name="connsiteX3" fmla="*/ 3058886 w 6096000"/>
              <a:gd name="connsiteY3" fmla="*/ 6858000 h 6858000"/>
              <a:gd name="connsiteX4" fmla="*/ 0 w 6096000"/>
              <a:gd name="connsiteY4" fmla="*/ 6858000 h 6858000"/>
              <a:gd name="connsiteX5" fmla="*/ 0 w 6096000"/>
              <a:gd name="connsiteY5" fmla="*/ 0 h 6858000"/>
              <a:gd name="connsiteX0" fmla="*/ 0 w 6096000"/>
              <a:gd name="connsiteY0" fmla="*/ 0 h 6858000"/>
              <a:gd name="connsiteX1" fmla="*/ 6096000 w 6096000"/>
              <a:gd name="connsiteY1" fmla="*/ 0 h 6858000"/>
              <a:gd name="connsiteX2" fmla="*/ 6096000 w 6096000"/>
              <a:gd name="connsiteY2" fmla="*/ 6858000 h 6858000"/>
              <a:gd name="connsiteX3" fmla="*/ 3037115 w 6096000"/>
              <a:gd name="connsiteY3" fmla="*/ 5889172 h 6858000"/>
              <a:gd name="connsiteX4" fmla="*/ 0 w 6096000"/>
              <a:gd name="connsiteY4" fmla="*/ 6858000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6096000" y="0"/>
                </a:lnTo>
                <a:lnTo>
                  <a:pt x="6096000" y="6858000"/>
                </a:lnTo>
                <a:lnTo>
                  <a:pt x="3037115" y="5889172"/>
                </a:lnTo>
                <a:lnTo>
                  <a:pt x="0" y="6858000"/>
                </a:lnTo>
                <a:lnTo>
                  <a:pt x="0" y="0"/>
                </a:lnTo>
                <a:close/>
              </a:path>
            </a:pathLst>
          </a:custGeom>
          <a:solidFill>
            <a:schemeClr val="bg2">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DA214944-8898-48BC-AE6F-065DA7BBB8E8}"/>
              </a:ext>
              <a:ext uri="{C183D7F6-B498-43B3-948B-1728B52AA6E4}">
                <adec:decorative xmlns:adec="http://schemas.microsoft.com/office/drawing/2017/decorative" val="1"/>
              </a:ext>
            </a:extLst>
          </p:cNvPr>
          <p:cNvGrpSpPr/>
          <p:nvPr/>
        </p:nvGrpSpPr>
        <p:grpSpPr>
          <a:xfrm>
            <a:off x="2580478" y="4714704"/>
            <a:ext cx="867485" cy="115439"/>
            <a:chOff x="8910933" y="1861308"/>
            <a:chExt cx="867485" cy="115439"/>
          </a:xfrm>
        </p:grpSpPr>
        <p:sp>
          <p:nvSpPr>
            <p:cNvPr id="8" name="Rectangle 7">
              <a:extLst>
                <a:ext uri="{FF2B5EF4-FFF2-40B4-BE49-F238E27FC236}">
                  <a16:creationId xmlns:a16="http://schemas.microsoft.com/office/drawing/2014/main" id="{B94B3AAB-30C4-441D-B481-D253F8325953}"/>
                </a:ext>
              </a:extLst>
            </p:cNvPr>
            <p:cNvSpPr/>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9" name="Straight Connector 8">
              <a:extLst>
                <a:ext uri="{FF2B5EF4-FFF2-40B4-BE49-F238E27FC236}">
                  <a16:creationId xmlns:a16="http://schemas.microsoft.com/office/drawing/2014/main" id="{FDCB6176-5585-40BC-BC9C-CA625F989F1B}"/>
                </a:ext>
              </a:extLst>
            </p:cNvPr>
            <p:cNvCxnSpPr/>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7C4F1D9-97D8-43DD-A319-C56367F97FCE}"/>
                </a:ext>
              </a:extLst>
            </p:cNvPr>
            <p:cNvCxnSpPr/>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25E64ED-B373-4866-B5A2-E805D3168BBB}"/>
              </a:ext>
            </a:extLst>
          </p:cNvPr>
          <p:cNvSpPr>
            <a:spLocks noGrp="1"/>
          </p:cNvSpPr>
          <p:nvPr>
            <p:ph type="title"/>
          </p:nvPr>
        </p:nvSpPr>
        <p:spPr>
          <a:xfrm>
            <a:off x="1151291" y="1274475"/>
            <a:ext cx="3761832" cy="2823913"/>
          </a:xfrm>
        </p:spPr>
        <p:txBody>
          <a:bodyPr anchor="b">
            <a:normAutofit/>
          </a:bodyPr>
          <a:lstStyle>
            <a:lvl1pPr algn="ctr">
              <a:defRPr sz="3200" cap="all" spc="600" baseline="0"/>
            </a:lvl1pPr>
          </a:lstStyle>
          <a:p>
            <a:r>
              <a:rPr lang="en-US"/>
              <a:t>Click to edit Master title style</a:t>
            </a:r>
          </a:p>
        </p:txBody>
      </p:sp>
      <p:sp>
        <p:nvSpPr>
          <p:cNvPr id="3" name="Text Placeholder 2">
            <a:extLst>
              <a:ext uri="{FF2B5EF4-FFF2-40B4-BE49-F238E27FC236}">
                <a16:creationId xmlns:a16="http://schemas.microsoft.com/office/drawing/2014/main" id="{AB6D6168-DDAE-41B2-A0D5-42185A2D028C}"/>
              </a:ext>
            </a:extLst>
          </p:cNvPr>
          <p:cNvSpPr>
            <a:spLocks noGrp="1"/>
          </p:cNvSpPr>
          <p:nvPr>
            <p:ph type="body" idx="1"/>
          </p:nvPr>
        </p:nvSpPr>
        <p:spPr>
          <a:xfrm>
            <a:off x="6556756" y="2730304"/>
            <a:ext cx="4383030" cy="1397390"/>
          </a:xfrm>
        </p:spPr>
        <p:txBody>
          <a:bodyPr anchor="ctr">
            <a:normAutofit/>
          </a:bodyPr>
          <a:lstStyle>
            <a:lvl1pPr marL="0" indent="0" algn="ctr">
              <a:buNone/>
              <a:defRPr sz="20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534371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825EB-71EE-41B3-89D2-47A0C7C35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662F7D-C4AD-4BD4-AAC8-F0223EE4A38B}"/>
              </a:ext>
            </a:extLst>
          </p:cNvPr>
          <p:cNvSpPr>
            <a:spLocks noGrp="1"/>
          </p:cNvSpPr>
          <p:nvPr>
            <p:ph sz="half" idx="1"/>
          </p:nvPr>
        </p:nvSpPr>
        <p:spPr>
          <a:xfrm>
            <a:off x="1037305" y="2155369"/>
            <a:ext cx="4953000" cy="39983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D0FB088-28C6-4667-8DF2-0DE32AE3EC30}"/>
              </a:ext>
            </a:extLst>
          </p:cNvPr>
          <p:cNvSpPr>
            <a:spLocks noGrp="1"/>
          </p:cNvSpPr>
          <p:nvPr>
            <p:ph sz="half" idx="2"/>
          </p:nvPr>
        </p:nvSpPr>
        <p:spPr>
          <a:xfrm>
            <a:off x="6172200" y="2155369"/>
            <a:ext cx="4953000" cy="39983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36095F-AE34-4E94-B722-E3A1205AEEDC}"/>
              </a:ext>
            </a:extLst>
          </p:cNvPr>
          <p:cNvSpPr>
            <a:spLocks noGrp="1"/>
          </p:cNvSpPr>
          <p:nvPr>
            <p:ph type="dt" sz="half" idx="10"/>
          </p:nvPr>
        </p:nvSpPr>
        <p:spPr/>
        <p:txBody>
          <a:bodyPr/>
          <a:lstStyle/>
          <a:p>
            <a:fld id="{D42C8742-5EE3-4D82-84D2-1A8349C5746D}" type="datetime1">
              <a:rPr lang="en-US" smtClean="0"/>
              <a:t>12/3/2025</a:t>
            </a:fld>
            <a:endParaRPr lang="en-US"/>
          </a:p>
        </p:txBody>
      </p:sp>
      <p:sp>
        <p:nvSpPr>
          <p:cNvPr id="6" name="Footer Placeholder 5">
            <a:extLst>
              <a:ext uri="{FF2B5EF4-FFF2-40B4-BE49-F238E27FC236}">
                <a16:creationId xmlns:a16="http://schemas.microsoft.com/office/drawing/2014/main" id="{6E06A8E6-BD94-48EA-8F35-DA0DF910AC25}"/>
              </a:ext>
            </a:extLst>
          </p:cNvPr>
          <p:cNvSpPr>
            <a:spLocks noGrp="1"/>
          </p:cNvSpPr>
          <p:nvPr>
            <p:ph type="ftr" sz="quarter" idx="11"/>
          </p:nvPr>
        </p:nvSpPr>
        <p:spPr/>
        <p:txBody>
          <a:bodyPr/>
          <a:lstStyle/>
          <a:p>
            <a:r>
              <a:rPr lang="en-US"/>
              <a:t>Slide 4 of 14</a:t>
            </a:r>
          </a:p>
        </p:txBody>
      </p:sp>
      <p:sp>
        <p:nvSpPr>
          <p:cNvPr id="7" name="Slide Number Placeholder 6">
            <a:extLst>
              <a:ext uri="{FF2B5EF4-FFF2-40B4-BE49-F238E27FC236}">
                <a16:creationId xmlns:a16="http://schemas.microsoft.com/office/drawing/2014/main" id="{50478AEF-56B8-49F5-81E8-663B1FFA073B}"/>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085465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F873F-001F-4254-97F3-05329E6A7B67}"/>
              </a:ext>
            </a:extLst>
          </p:cNvPr>
          <p:cNvSpPr>
            <a:spLocks noGrp="1"/>
          </p:cNvSpPr>
          <p:nvPr>
            <p:ph type="title"/>
          </p:nvPr>
        </p:nvSpPr>
        <p:spPr>
          <a:xfrm>
            <a:off x="1028700" y="555171"/>
            <a:ext cx="10134600" cy="1135517"/>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37B575-060F-4296-A28A-93DA109F96F5}"/>
              </a:ext>
            </a:extLst>
          </p:cNvPr>
          <p:cNvSpPr>
            <a:spLocks noGrp="1"/>
          </p:cNvSpPr>
          <p:nvPr>
            <p:ph type="body" idx="1"/>
          </p:nvPr>
        </p:nvSpPr>
        <p:spPr>
          <a:xfrm>
            <a:off x="1037306" y="1801620"/>
            <a:ext cx="4849036" cy="814387"/>
          </a:xfrm>
        </p:spPr>
        <p:txBody>
          <a:bodyPr anchor="b">
            <a:normAutofit/>
          </a:bodyPr>
          <a:lstStyle>
            <a:lvl1pPr marL="0" indent="0">
              <a:buNone/>
              <a:defRPr sz="18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581A51-F4D1-4A02-9918-C416F820B646}"/>
              </a:ext>
            </a:extLst>
          </p:cNvPr>
          <p:cNvSpPr>
            <a:spLocks noGrp="1"/>
          </p:cNvSpPr>
          <p:nvPr>
            <p:ph sz="half" idx="2"/>
          </p:nvPr>
        </p:nvSpPr>
        <p:spPr>
          <a:xfrm>
            <a:off x="1037306" y="2619103"/>
            <a:ext cx="4849036" cy="351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2916D0-3DFE-455D-9888-3FDEFD3DE0CD}"/>
              </a:ext>
            </a:extLst>
          </p:cNvPr>
          <p:cNvSpPr>
            <a:spLocks noGrp="1"/>
          </p:cNvSpPr>
          <p:nvPr>
            <p:ph type="body" sz="quarter" idx="3"/>
          </p:nvPr>
        </p:nvSpPr>
        <p:spPr>
          <a:xfrm>
            <a:off x="6250108" y="1801620"/>
            <a:ext cx="4904585" cy="814387"/>
          </a:xfrm>
        </p:spPr>
        <p:txBody>
          <a:bodyPr anchor="b">
            <a:normAutofit/>
          </a:bodyPr>
          <a:lstStyle>
            <a:lvl1pPr marL="0" indent="0">
              <a:buNone/>
              <a:defRPr sz="18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93D763-0643-4A48-8007-93391C59F6D5}"/>
              </a:ext>
            </a:extLst>
          </p:cNvPr>
          <p:cNvSpPr>
            <a:spLocks noGrp="1"/>
          </p:cNvSpPr>
          <p:nvPr>
            <p:ph sz="quarter" idx="4"/>
          </p:nvPr>
        </p:nvSpPr>
        <p:spPr>
          <a:xfrm>
            <a:off x="6250108" y="2619103"/>
            <a:ext cx="4904585" cy="351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9A2D07B-3A5D-41C2-83B8-BD1AD6522CAD}"/>
              </a:ext>
            </a:extLst>
          </p:cNvPr>
          <p:cNvSpPr>
            <a:spLocks noGrp="1"/>
          </p:cNvSpPr>
          <p:nvPr>
            <p:ph type="dt" sz="half" idx="10"/>
          </p:nvPr>
        </p:nvSpPr>
        <p:spPr/>
        <p:txBody>
          <a:bodyPr/>
          <a:lstStyle/>
          <a:p>
            <a:fld id="{A74BFE8D-4916-44B7-8BB3-701800D648DE}" type="datetime1">
              <a:rPr lang="en-US" smtClean="0"/>
              <a:t>12/3/2025</a:t>
            </a:fld>
            <a:endParaRPr lang="en-US"/>
          </a:p>
        </p:txBody>
      </p:sp>
      <p:sp>
        <p:nvSpPr>
          <p:cNvPr id="8" name="Footer Placeholder 7">
            <a:extLst>
              <a:ext uri="{FF2B5EF4-FFF2-40B4-BE49-F238E27FC236}">
                <a16:creationId xmlns:a16="http://schemas.microsoft.com/office/drawing/2014/main" id="{0E2C1367-FE5A-4CDD-B85B-724FFFE5B58F}"/>
              </a:ext>
            </a:extLst>
          </p:cNvPr>
          <p:cNvSpPr>
            <a:spLocks noGrp="1"/>
          </p:cNvSpPr>
          <p:nvPr>
            <p:ph type="ftr" sz="quarter" idx="11"/>
          </p:nvPr>
        </p:nvSpPr>
        <p:spPr/>
        <p:txBody>
          <a:bodyPr/>
          <a:lstStyle/>
          <a:p>
            <a:r>
              <a:rPr lang="en-US"/>
              <a:t>Slide 4 of 14</a:t>
            </a:r>
          </a:p>
        </p:txBody>
      </p:sp>
      <p:sp>
        <p:nvSpPr>
          <p:cNvPr id="9" name="Slide Number Placeholder 8">
            <a:extLst>
              <a:ext uri="{FF2B5EF4-FFF2-40B4-BE49-F238E27FC236}">
                <a16:creationId xmlns:a16="http://schemas.microsoft.com/office/drawing/2014/main" id="{9992F244-23EB-4E1A-B74F-77F23F87978D}"/>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390058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76C0A-BEF4-4DE4-A9D2-C60298FC7F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67C0AC-3C98-4D68-AE72-CFFA1638CC02}"/>
              </a:ext>
            </a:extLst>
          </p:cNvPr>
          <p:cNvSpPr>
            <a:spLocks noGrp="1"/>
          </p:cNvSpPr>
          <p:nvPr>
            <p:ph type="dt" sz="half" idx="10"/>
          </p:nvPr>
        </p:nvSpPr>
        <p:spPr/>
        <p:txBody>
          <a:bodyPr/>
          <a:lstStyle/>
          <a:p>
            <a:fld id="{40E06977-4ECC-4AA8-B8F2-362F0587E16F}" type="datetime1">
              <a:rPr lang="en-US" smtClean="0"/>
              <a:t>12/3/2025</a:t>
            </a:fld>
            <a:endParaRPr lang="en-US"/>
          </a:p>
        </p:txBody>
      </p:sp>
      <p:sp>
        <p:nvSpPr>
          <p:cNvPr id="4" name="Footer Placeholder 3">
            <a:extLst>
              <a:ext uri="{FF2B5EF4-FFF2-40B4-BE49-F238E27FC236}">
                <a16:creationId xmlns:a16="http://schemas.microsoft.com/office/drawing/2014/main" id="{FEA7722A-E2E4-45D2-8A20-4853ED6837B1}"/>
              </a:ext>
            </a:extLst>
          </p:cNvPr>
          <p:cNvSpPr>
            <a:spLocks noGrp="1"/>
          </p:cNvSpPr>
          <p:nvPr>
            <p:ph type="ftr" sz="quarter" idx="11"/>
          </p:nvPr>
        </p:nvSpPr>
        <p:spPr/>
        <p:txBody>
          <a:bodyPr/>
          <a:lstStyle/>
          <a:p>
            <a:r>
              <a:rPr lang="en-US"/>
              <a:t>Slide 4 of 14</a:t>
            </a:r>
          </a:p>
        </p:txBody>
      </p:sp>
      <p:sp>
        <p:nvSpPr>
          <p:cNvPr id="5" name="Slide Number Placeholder 4">
            <a:extLst>
              <a:ext uri="{FF2B5EF4-FFF2-40B4-BE49-F238E27FC236}">
                <a16:creationId xmlns:a16="http://schemas.microsoft.com/office/drawing/2014/main" id="{146B9201-B20B-4412-B745-F2F6A91487E8}"/>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412023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C4889A-9ABE-4409-BAD8-F84C36C1FA09}"/>
              </a:ext>
            </a:extLst>
          </p:cNvPr>
          <p:cNvSpPr>
            <a:spLocks noGrp="1"/>
          </p:cNvSpPr>
          <p:nvPr>
            <p:ph type="dt" sz="half" idx="10"/>
          </p:nvPr>
        </p:nvSpPr>
        <p:spPr/>
        <p:txBody>
          <a:bodyPr/>
          <a:lstStyle/>
          <a:p>
            <a:fld id="{09CA2417-75A7-442A-BD5D-F0486C28AF00}" type="datetime1">
              <a:rPr lang="en-US" smtClean="0"/>
              <a:t>12/3/2025</a:t>
            </a:fld>
            <a:endParaRPr lang="en-US"/>
          </a:p>
        </p:txBody>
      </p:sp>
      <p:sp>
        <p:nvSpPr>
          <p:cNvPr id="3" name="Footer Placeholder 2">
            <a:extLst>
              <a:ext uri="{FF2B5EF4-FFF2-40B4-BE49-F238E27FC236}">
                <a16:creationId xmlns:a16="http://schemas.microsoft.com/office/drawing/2014/main" id="{7DDA5A70-FE21-4CB6-A67B-1DC798E9E3B1}"/>
              </a:ext>
            </a:extLst>
          </p:cNvPr>
          <p:cNvSpPr>
            <a:spLocks noGrp="1"/>
          </p:cNvSpPr>
          <p:nvPr>
            <p:ph type="ftr" sz="quarter" idx="11"/>
          </p:nvPr>
        </p:nvSpPr>
        <p:spPr/>
        <p:txBody>
          <a:bodyPr/>
          <a:lstStyle/>
          <a:p>
            <a:r>
              <a:rPr lang="en-US"/>
              <a:t>Slide 4 of 14</a:t>
            </a:r>
          </a:p>
        </p:txBody>
      </p:sp>
      <p:sp>
        <p:nvSpPr>
          <p:cNvPr id="4" name="Slide Number Placeholder 3">
            <a:extLst>
              <a:ext uri="{FF2B5EF4-FFF2-40B4-BE49-F238E27FC236}">
                <a16:creationId xmlns:a16="http://schemas.microsoft.com/office/drawing/2014/main" id="{B984AD11-7FD2-432C-A6AB-395BE9275C1B}"/>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487769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397CF-9CDD-4E78-8F35-A2FFE7867419}"/>
              </a:ext>
            </a:extLst>
          </p:cNvPr>
          <p:cNvSpPr>
            <a:spLocks noGrp="1"/>
          </p:cNvSpPr>
          <p:nvPr>
            <p:ph type="title"/>
          </p:nvPr>
        </p:nvSpPr>
        <p:spPr>
          <a:xfrm>
            <a:off x="1066800" y="457200"/>
            <a:ext cx="370522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7194BFE-7A85-4123-B0F7-4DB1C141CE60}"/>
              </a:ext>
            </a:extLst>
          </p:cNvPr>
          <p:cNvSpPr>
            <a:spLocks noGrp="1"/>
          </p:cNvSpPr>
          <p:nvPr>
            <p:ph idx="1"/>
          </p:nvPr>
        </p:nvSpPr>
        <p:spPr>
          <a:xfrm>
            <a:off x="5183188" y="1066800"/>
            <a:ext cx="6172200" cy="48386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1EFD6D-1929-4A73-A860-22A36FF5C17D}"/>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B399A5-94A1-4452-AFF0-918BDA8B14F9}"/>
              </a:ext>
            </a:extLst>
          </p:cNvPr>
          <p:cNvSpPr>
            <a:spLocks noGrp="1"/>
          </p:cNvSpPr>
          <p:nvPr>
            <p:ph type="dt" sz="half" idx="10"/>
          </p:nvPr>
        </p:nvSpPr>
        <p:spPr/>
        <p:txBody>
          <a:bodyPr/>
          <a:lstStyle/>
          <a:p>
            <a:fld id="{AACF0572-6497-4CDE-84EF-4860A064602F}" type="datetime1">
              <a:rPr lang="en-US" smtClean="0"/>
              <a:t>12/3/2025</a:t>
            </a:fld>
            <a:endParaRPr lang="en-US"/>
          </a:p>
        </p:txBody>
      </p:sp>
      <p:sp>
        <p:nvSpPr>
          <p:cNvPr id="6" name="Footer Placeholder 5">
            <a:extLst>
              <a:ext uri="{FF2B5EF4-FFF2-40B4-BE49-F238E27FC236}">
                <a16:creationId xmlns:a16="http://schemas.microsoft.com/office/drawing/2014/main" id="{489589D8-DD83-406C-A77A-176D23993BA8}"/>
              </a:ext>
            </a:extLst>
          </p:cNvPr>
          <p:cNvSpPr>
            <a:spLocks noGrp="1"/>
          </p:cNvSpPr>
          <p:nvPr>
            <p:ph type="ftr" sz="quarter" idx="11"/>
          </p:nvPr>
        </p:nvSpPr>
        <p:spPr/>
        <p:txBody>
          <a:bodyPr/>
          <a:lstStyle/>
          <a:p>
            <a:r>
              <a:rPr lang="en-US"/>
              <a:t>Slide 4 of 14</a:t>
            </a:r>
          </a:p>
        </p:txBody>
      </p:sp>
      <p:sp>
        <p:nvSpPr>
          <p:cNvPr id="7" name="Slide Number Placeholder 6">
            <a:extLst>
              <a:ext uri="{FF2B5EF4-FFF2-40B4-BE49-F238E27FC236}">
                <a16:creationId xmlns:a16="http://schemas.microsoft.com/office/drawing/2014/main" id="{6DE46024-82ED-40EF-8846-F6CC44BC53DE}"/>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191956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D12FA-83A4-42AF-98D7-312C4C5A7128}"/>
              </a:ext>
            </a:extLst>
          </p:cNvPr>
          <p:cNvSpPr>
            <a:spLocks noGrp="1"/>
          </p:cNvSpPr>
          <p:nvPr>
            <p:ph type="title"/>
          </p:nvPr>
        </p:nvSpPr>
        <p:spPr>
          <a:xfrm>
            <a:off x="1066800" y="457200"/>
            <a:ext cx="370522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6CF1DC8-2932-4C6E-BFBB-8BA1C9598425}"/>
              </a:ext>
            </a:extLst>
          </p:cNvPr>
          <p:cNvSpPr>
            <a:spLocks noGrp="1"/>
          </p:cNvSpPr>
          <p:nvPr>
            <p:ph type="pic" idx="1"/>
          </p:nvPr>
        </p:nvSpPr>
        <p:spPr>
          <a:xfrm>
            <a:off x="5183188" y="1066800"/>
            <a:ext cx="5942012" cy="48387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D6E0000-EF01-46A5-8A71-25FB7EA3F94A}"/>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1AD40B-9246-4532-9F73-5BA9061C3ABA}"/>
              </a:ext>
            </a:extLst>
          </p:cNvPr>
          <p:cNvSpPr>
            <a:spLocks noGrp="1"/>
          </p:cNvSpPr>
          <p:nvPr>
            <p:ph type="dt" sz="half" idx="10"/>
          </p:nvPr>
        </p:nvSpPr>
        <p:spPr/>
        <p:txBody>
          <a:bodyPr/>
          <a:lstStyle/>
          <a:p>
            <a:fld id="{1E37A532-E2F0-4D14-8BCB-6C6EFF6F2BCE}" type="datetime1">
              <a:rPr lang="en-US" smtClean="0"/>
              <a:t>12/3/2025</a:t>
            </a:fld>
            <a:endParaRPr lang="en-US"/>
          </a:p>
        </p:txBody>
      </p:sp>
      <p:sp>
        <p:nvSpPr>
          <p:cNvPr id="6" name="Footer Placeholder 5">
            <a:extLst>
              <a:ext uri="{FF2B5EF4-FFF2-40B4-BE49-F238E27FC236}">
                <a16:creationId xmlns:a16="http://schemas.microsoft.com/office/drawing/2014/main" id="{8BE6B9A0-5B1C-4F7B-828A-EF74E51478BD}"/>
              </a:ext>
            </a:extLst>
          </p:cNvPr>
          <p:cNvSpPr>
            <a:spLocks noGrp="1"/>
          </p:cNvSpPr>
          <p:nvPr>
            <p:ph type="ftr" sz="quarter" idx="11"/>
          </p:nvPr>
        </p:nvSpPr>
        <p:spPr/>
        <p:txBody>
          <a:bodyPr/>
          <a:lstStyle/>
          <a:p>
            <a:r>
              <a:rPr lang="en-US"/>
              <a:t>Slide 4 of 14</a:t>
            </a:r>
          </a:p>
        </p:txBody>
      </p:sp>
      <p:sp>
        <p:nvSpPr>
          <p:cNvPr id="7" name="Slide Number Placeholder 6">
            <a:extLst>
              <a:ext uri="{FF2B5EF4-FFF2-40B4-BE49-F238E27FC236}">
                <a16:creationId xmlns:a16="http://schemas.microsoft.com/office/drawing/2014/main" id="{A82E99FB-C932-4165-A612-8B302D8F7229}"/>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762683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1126-542A-43AD-8078-EE35651654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A5F98B-5F32-4561-BFBC-9F6E5DA0A347}"/>
              </a:ext>
            </a:extLst>
          </p:cNvPr>
          <p:cNvSpPr>
            <a:spLocks noGrp="1"/>
          </p:cNvSpPr>
          <p:nvPr>
            <p:ph type="body" orient="vert" idx="1"/>
          </p:nvPr>
        </p:nvSpPr>
        <p:spPr>
          <a:xfrm>
            <a:off x="1028700" y="2161903"/>
            <a:ext cx="10134600" cy="37435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73D0DD-B04E-4E48-8EE1-51E46131A9A2}"/>
              </a:ext>
            </a:extLst>
          </p:cNvPr>
          <p:cNvSpPr>
            <a:spLocks noGrp="1"/>
          </p:cNvSpPr>
          <p:nvPr>
            <p:ph type="dt" sz="half" idx="10"/>
          </p:nvPr>
        </p:nvSpPr>
        <p:spPr/>
        <p:txBody>
          <a:bodyPr/>
          <a:lstStyle/>
          <a:p>
            <a:fld id="{63AF7441-C176-4E09-851E-80ABDDC6133E}" type="datetime1">
              <a:rPr lang="en-US" smtClean="0"/>
              <a:t>12/3/2025</a:t>
            </a:fld>
            <a:endParaRPr lang="en-US"/>
          </a:p>
        </p:txBody>
      </p:sp>
      <p:sp>
        <p:nvSpPr>
          <p:cNvPr id="5" name="Footer Placeholder 4">
            <a:extLst>
              <a:ext uri="{FF2B5EF4-FFF2-40B4-BE49-F238E27FC236}">
                <a16:creationId xmlns:a16="http://schemas.microsoft.com/office/drawing/2014/main" id="{0481352D-F9C0-4442-9601-A09A7655E685}"/>
              </a:ext>
            </a:extLst>
          </p:cNvPr>
          <p:cNvSpPr>
            <a:spLocks noGrp="1"/>
          </p:cNvSpPr>
          <p:nvPr>
            <p:ph type="ftr" sz="quarter" idx="11"/>
          </p:nvPr>
        </p:nvSpPr>
        <p:spPr/>
        <p:txBody>
          <a:bodyPr/>
          <a:lstStyle/>
          <a:p>
            <a:r>
              <a:rPr lang="en-US"/>
              <a:t>Slide 4 of 14</a:t>
            </a:r>
          </a:p>
        </p:txBody>
      </p:sp>
      <p:sp>
        <p:nvSpPr>
          <p:cNvPr id="6" name="Slide Number Placeholder 5">
            <a:extLst>
              <a:ext uri="{FF2B5EF4-FFF2-40B4-BE49-F238E27FC236}">
                <a16:creationId xmlns:a16="http://schemas.microsoft.com/office/drawing/2014/main" id="{69FC0801-9C45-40AE-AB33-5742CDA4DAC7}"/>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77940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946561-59BF-4566-AD2C-9B05C4771DF4}"/>
              </a:ext>
            </a:extLst>
          </p:cNvPr>
          <p:cNvSpPr>
            <a:spLocks noGrp="1"/>
          </p:cNvSpPr>
          <p:nvPr>
            <p:ph type="title" orient="vert"/>
          </p:nvPr>
        </p:nvSpPr>
        <p:spPr>
          <a:xfrm>
            <a:off x="9196250" y="723899"/>
            <a:ext cx="2271849" cy="54102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DF7870-6CBD-47E2-854C-68141BAA101D}"/>
              </a:ext>
            </a:extLst>
          </p:cNvPr>
          <p:cNvSpPr>
            <a:spLocks noGrp="1"/>
          </p:cNvSpPr>
          <p:nvPr>
            <p:ph type="body" orient="vert" idx="1"/>
          </p:nvPr>
        </p:nvSpPr>
        <p:spPr>
          <a:xfrm>
            <a:off x="723900" y="723899"/>
            <a:ext cx="8302534" cy="54102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12FAF3-C106-49CB-A845-1FC7F731399D}"/>
              </a:ext>
            </a:extLst>
          </p:cNvPr>
          <p:cNvSpPr>
            <a:spLocks noGrp="1"/>
          </p:cNvSpPr>
          <p:nvPr>
            <p:ph type="dt" sz="half" idx="10"/>
          </p:nvPr>
        </p:nvSpPr>
        <p:spPr/>
        <p:txBody>
          <a:bodyPr/>
          <a:lstStyle/>
          <a:p>
            <a:fld id="{A06527A4-9742-42FD-AC79-B0D19A4BA4E9}" type="datetime1">
              <a:rPr lang="en-US" smtClean="0"/>
              <a:t>12/3/2025</a:t>
            </a:fld>
            <a:endParaRPr lang="en-US"/>
          </a:p>
        </p:txBody>
      </p:sp>
      <p:sp>
        <p:nvSpPr>
          <p:cNvPr id="5" name="Footer Placeholder 4">
            <a:extLst>
              <a:ext uri="{FF2B5EF4-FFF2-40B4-BE49-F238E27FC236}">
                <a16:creationId xmlns:a16="http://schemas.microsoft.com/office/drawing/2014/main" id="{E34D5CCC-00E8-48FA-91A6-921E7B6440EB}"/>
              </a:ext>
            </a:extLst>
          </p:cNvPr>
          <p:cNvSpPr>
            <a:spLocks noGrp="1"/>
          </p:cNvSpPr>
          <p:nvPr>
            <p:ph type="ftr" sz="quarter" idx="11"/>
          </p:nvPr>
        </p:nvSpPr>
        <p:spPr/>
        <p:txBody>
          <a:bodyPr/>
          <a:lstStyle/>
          <a:p>
            <a:r>
              <a:rPr lang="en-US"/>
              <a:t>Slide 4 of 14</a:t>
            </a:r>
          </a:p>
        </p:txBody>
      </p:sp>
      <p:sp>
        <p:nvSpPr>
          <p:cNvPr id="6" name="Slide Number Placeholder 5">
            <a:extLst>
              <a:ext uri="{FF2B5EF4-FFF2-40B4-BE49-F238E27FC236}">
                <a16:creationId xmlns:a16="http://schemas.microsoft.com/office/drawing/2014/main" id="{CB7E1751-E7AA-406D-A977-1ACEF1FBD134}"/>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695472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CE7638-D991-46E7-BF2C-67D1AC829628}"/>
              </a:ext>
            </a:extLst>
          </p:cNvPr>
          <p:cNvSpPr>
            <a:spLocks noGrp="1"/>
          </p:cNvSpPr>
          <p:nvPr>
            <p:ph type="title"/>
          </p:nvPr>
        </p:nvSpPr>
        <p:spPr>
          <a:xfrm>
            <a:off x="1028700" y="723900"/>
            <a:ext cx="10134600" cy="1288489"/>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CA7C6B9C-4923-4DAB-9748-D5CD289EB978}"/>
              </a:ext>
            </a:extLst>
          </p:cNvPr>
          <p:cNvSpPr>
            <a:spLocks noGrp="1"/>
          </p:cNvSpPr>
          <p:nvPr>
            <p:ph type="body" idx="1"/>
          </p:nvPr>
        </p:nvSpPr>
        <p:spPr>
          <a:xfrm>
            <a:off x="1028700" y="2161903"/>
            <a:ext cx="10134600" cy="39693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E7578CF6-4B33-40E4-B881-5F4C568378E1}"/>
              </a:ext>
            </a:extLst>
          </p:cNvPr>
          <p:cNvSpPr>
            <a:spLocks noGrp="1"/>
          </p:cNvSpPr>
          <p:nvPr>
            <p:ph type="sldNum" sz="quarter" idx="4"/>
          </p:nvPr>
        </p:nvSpPr>
        <p:spPr>
          <a:xfrm>
            <a:off x="11394765" y="6245032"/>
            <a:ext cx="524491" cy="365125"/>
          </a:xfrm>
          <a:prstGeom prst="rect">
            <a:avLst/>
          </a:prstGeom>
        </p:spPr>
        <p:txBody>
          <a:bodyPr vert="horz" lIns="91440" tIns="45720" rIns="91440" bIns="45720" rtlCol="0" anchor="ctr"/>
          <a:lstStyle>
            <a:lvl1pPr algn="r">
              <a:defRPr sz="1050">
                <a:solidFill>
                  <a:schemeClr val="tx2"/>
                </a:solidFill>
              </a:defRPr>
            </a:lvl1pPr>
          </a:lstStyle>
          <a:p>
            <a:fld id="{19590046-DA73-4BBF-84B5-C08E6F75191A}" type="slidenum">
              <a:rPr lang="en-US" smtClean="0"/>
              <a:t>‹#›</a:t>
            </a:fld>
            <a:endParaRPr lang="en-US"/>
          </a:p>
        </p:txBody>
      </p:sp>
      <p:sp>
        <p:nvSpPr>
          <p:cNvPr id="4" name="Date Placeholder 3">
            <a:extLst>
              <a:ext uri="{FF2B5EF4-FFF2-40B4-BE49-F238E27FC236}">
                <a16:creationId xmlns:a16="http://schemas.microsoft.com/office/drawing/2014/main" id="{25AE857E-F564-4539-9984-10435B6140AC}"/>
              </a:ext>
            </a:extLst>
          </p:cNvPr>
          <p:cNvSpPr>
            <a:spLocks noGrp="1"/>
          </p:cNvSpPr>
          <p:nvPr>
            <p:ph type="dt" sz="half" idx="2"/>
          </p:nvPr>
        </p:nvSpPr>
        <p:spPr>
          <a:xfrm>
            <a:off x="354841" y="6245032"/>
            <a:ext cx="2659380" cy="365125"/>
          </a:xfrm>
          <a:prstGeom prst="rect">
            <a:avLst/>
          </a:prstGeom>
        </p:spPr>
        <p:txBody>
          <a:bodyPr vert="horz" lIns="91440" tIns="45720" rIns="91440" bIns="45720" rtlCol="0" anchor="ctr"/>
          <a:lstStyle>
            <a:lvl1pPr algn="l">
              <a:defRPr sz="1050">
                <a:solidFill>
                  <a:schemeClr val="tx2"/>
                </a:solidFill>
              </a:defRPr>
            </a:lvl1pPr>
          </a:lstStyle>
          <a:p>
            <a:fld id="{1E99A262-4775-40AE-82E0-4310503501D8}" type="datetime1">
              <a:rPr lang="en-US" smtClean="0"/>
              <a:t>12/3/2025</a:t>
            </a:fld>
            <a:endParaRPr lang="en-US"/>
          </a:p>
        </p:txBody>
      </p:sp>
      <p:sp>
        <p:nvSpPr>
          <p:cNvPr id="5" name="Footer Placeholder 4">
            <a:extLst>
              <a:ext uri="{FF2B5EF4-FFF2-40B4-BE49-F238E27FC236}">
                <a16:creationId xmlns:a16="http://schemas.microsoft.com/office/drawing/2014/main" id="{7D1EABEF-B998-4B11-A878-8F492F8E3983}"/>
              </a:ext>
            </a:extLst>
          </p:cNvPr>
          <p:cNvSpPr>
            <a:spLocks noGrp="1"/>
          </p:cNvSpPr>
          <p:nvPr>
            <p:ph type="ftr" sz="quarter" idx="3"/>
          </p:nvPr>
        </p:nvSpPr>
        <p:spPr>
          <a:xfrm>
            <a:off x="7279964" y="6245033"/>
            <a:ext cx="4112222" cy="365125"/>
          </a:xfrm>
          <a:prstGeom prst="rect">
            <a:avLst/>
          </a:prstGeom>
        </p:spPr>
        <p:txBody>
          <a:bodyPr vert="horz" lIns="91440" tIns="45720" rIns="91440" bIns="45720" rtlCol="0" anchor="ctr"/>
          <a:lstStyle>
            <a:lvl1pPr algn="r">
              <a:defRPr sz="1050">
                <a:solidFill>
                  <a:schemeClr val="tx2"/>
                </a:solidFill>
              </a:defRPr>
            </a:lvl1pPr>
          </a:lstStyle>
          <a:p>
            <a:r>
              <a:rPr lang="en-US"/>
              <a:t>Slide 4 of 14</a:t>
            </a:r>
          </a:p>
        </p:txBody>
      </p:sp>
      <p:sp>
        <p:nvSpPr>
          <p:cNvPr id="16" name="Freeform: Shape 15">
            <a:extLst>
              <a:ext uri="{FF2B5EF4-FFF2-40B4-BE49-F238E27FC236}">
                <a16:creationId xmlns:a16="http://schemas.microsoft.com/office/drawing/2014/main" id="{9EB54D17-3792-403D-9127-495845021D2B}"/>
              </a:ext>
            </a:extLst>
          </p:cNvPr>
          <p:cNvSpPr/>
          <p:nvPr/>
        </p:nvSpPr>
        <p:spPr>
          <a:xfrm>
            <a:off x="0" y="0"/>
            <a:ext cx="12192000" cy="6858000"/>
          </a:xfrm>
          <a:custGeom>
            <a:avLst/>
            <a:gdLst>
              <a:gd name="connsiteX0" fmla="*/ 160920 w 12192000"/>
              <a:gd name="connsiteY0" fmla="*/ 157606 h 6858000"/>
              <a:gd name="connsiteX1" fmla="*/ 160920 w 12192000"/>
              <a:gd name="connsiteY1" fmla="*/ 6700394 h 6858000"/>
              <a:gd name="connsiteX2" fmla="*/ 12031081 w 12192000"/>
              <a:gd name="connsiteY2" fmla="*/ 6700394 h 6858000"/>
              <a:gd name="connsiteX3" fmla="*/ 12031081 w 12192000"/>
              <a:gd name="connsiteY3" fmla="*/ 157606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60920" y="157606"/>
                </a:moveTo>
                <a:lnTo>
                  <a:pt x="160920" y="6700394"/>
                </a:lnTo>
                <a:lnTo>
                  <a:pt x="12031081" y="6700394"/>
                </a:lnTo>
                <a:lnTo>
                  <a:pt x="12031081" y="157606"/>
                </a:lnTo>
                <a:close/>
                <a:moveTo>
                  <a:pt x="0" y="0"/>
                </a:moveTo>
                <a:lnTo>
                  <a:pt x="12192000" y="0"/>
                </a:lnTo>
                <a:lnTo>
                  <a:pt x="12192000" y="6858000"/>
                </a:lnTo>
                <a:lnTo>
                  <a:pt x="0" y="685800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2603481"/>
      </p:ext>
    </p:extLst>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09" r:id="rId6"/>
    <p:sldLayoutId id="2147483814" r:id="rId7"/>
    <p:sldLayoutId id="2147483810" r:id="rId8"/>
    <p:sldLayoutId id="2147483811" r:id="rId9"/>
    <p:sldLayoutId id="2147483812" r:id="rId10"/>
    <p:sldLayoutId id="2147483813" r:id="rId11"/>
  </p:sldLayoutIdLst>
  <p:hf sldNum="0" hdr="0" dt="0"/>
  <p:txStyles>
    <p:titleStyle>
      <a:lvl1pPr algn="l" defTabSz="914400" rtl="0" eaLnBrk="1" latinLnBrk="0" hangingPunct="1">
        <a:lnSpc>
          <a:spcPct val="110000"/>
        </a:lnSpc>
        <a:spcBef>
          <a:spcPct val="0"/>
        </a:spcBef>
        <a:buNone/>
        <a:defRPr sz="3200" kern="1200" cap="none" baseline="0">
          <a:solidFill>
            <a:schemeClr val="tx2"/>
          </a:solidFill>
          <a:latin typeface="+mj-lt"/>
          <a:ea typeface="+mj-ea"/>
          <a:cs typeface="+mj-cs"/>
        </a:defRPr>
      </a:lvl1pPr>
    </p:titleStyle>
    <p:bodyStyle>
      <a:lvl1pPr marL="0" indent="0" algn="l" defTabSz="914400" rtl="0" eaLnBrk="1" latinLnBrk="0" hangingPunct="1">
        <a:lnSpc>
          <a:spcPct val="110000"/>
        </a:lnSpc>
        <a:spcBef>
          <a:spcPts val="1000"/>
        </a:spcBef>
        <a:buFontTx/>
        <a:buNone/>
        <a:defRPr sz="2000" kern="1200">
          <a:solidFill>
            <a:schemeClr val="tx2"/>
          </a:solidFill>
          <a:latin typeface="+mn-lt"/>
          <a:ea typeface="+mn-ea"/>
          <a:cs typeface="+mn-cs"/>
        </a:defRPr>
      </a:lvl1pPr>
      <a:lvl2pPr marL="274320" indent="-228600" algn="l" defTabSz="914400" rtl="0" eaLnBrk="1" latinLnBrk="0" hangingPunct="1">
        <a:lnSpc>
          <a:spcPct val="110000"/>
        </a:lnSpc>
        <a:spcBef>
          <a:spcPts val="500"/>
        </a:spcBef>
        <a:buSzPct val="85000"/>
        <a:buFont typeface="Arial" panose="020B0604020202020204" pitchFamily="34" charset="0"/>
        <a:buChar char="•"/>
        <a:defRPr sz="1800" kern="1200">
          <a:solidFill>
            <a:schemeClr val="tx2"/>
          </a:solidFill>
          <a:latin typeface="+mn-lt"/>
          <a:ea typeface="+mn-ea"/>
          <a:cs typeface="+mn-cs"/>
        </a:defRPr>
      </a:lvl2pPr>
      <a:lvl3pPr marL="274320" indent="0" algn="l" defTabSz="914400" rtl="0" eaLnBrk="1" latinLnBrk="0" hangingPunct="1">
        <a:lnSpc>
          <a:spcPct val="110000"/>
        </a:lnSpc>
        <a:spcBef>
          <a:spcPts val="500"/>
        </a:spcBef>
        <a:buFontTx/>
        <a:buNone/>
        <a:defRPr sz="1600" kern="1200">
          <a:solidFill>
            <a:schemeClr val="tx2"/>
          </a:solidFill>
          <a:latin typeface="+mn-lt"/>
          <a:ea typeface="+mn-ea"/>
          <a:cs typeface="+mn-cs"/>
        </a:defRPr>
      </a:lvl3pPr>
      <a:lvl4pPr marL="548640" indent="-228600" algn="l" defTabSz="914400" rtl="0" eaLnBrk="1" latinLnBrk="0" hangingPunct="1">
        <a:lnSpc>
          <a:spcPct val="110000"/>
        </a:lnSpc>
        <a:spcBef>
          <a:spcPts val="500"/>
        </a:spcBef>
        <a:buFont typeface="Arial" panose="020B0604020202020204" pitchFamily="34" charset="0"/>
        <a:buChar char="•"/>
        <a:defRPr sz="1400" kern="1200">
          <a:solidFill>
            <a:schemeClr val="tx2"/>
          </a:solidFill>
          <a:latin typeface="+mn-lt"/>
          <a:ea typeface="+mn-ea"/>
          <a:cs typeface="+mn-cs"/>
        </a:defRPr>
      </a:lvl4pPr>
      <a:lvl5pPr marL="548640" indent="0" algn="l" defTabSz="914400" rtl="0" eaLnBrk="1" latinLnBrk="0" hangingPunct="1">
        <a:lnSpc>
          <a:spcPct val="110000"/>
        </a:lnSpc>
        <a:spcBef>
          <a:spcPts val="500"/>
        </a:spcBef>
        <a:buFontTx/>
        <a:buNone/>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4905C695-F54E-4EF8-8AEF-811D460E7A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White structure">
            <a:extLst>
              <a:ext uri="{FF2B5EF4-FFF2-40B4-BE49-F238E27FC236}">
                <a16:creationId xmlns:a16="http://schemas.microsoft.com/office/drawing/2014/main" id="{891075B4-FF57-C3A4-8F47-9887592EEBD8}"/>
              </a:ext>
            </a:extLst>
          </p:cNvPr>
          <p:cNvPicPr>
            <a:picLocks noChangeAspect="1"/>
          </p:cNvPicPr>
          <p:nvPr/>
        </p:nvPicPr>
        <p:blipFill>
          <a:blip r:embed="rId2">
            <a:alphaModFix/>
          </a:blip>
          <a:srcRect b="24242"/>
          <a:stretch>
            <a:fillRect/>
          </a:stretch>
        </p:blipFill>
        <p:spPr>
          <a:xfrm>
            <a:off x="3" y="1"/>
            <a:ext cx="12191997" cy="6857999"/>
          </a:xfrm>
          <a:prstGeom prst="rect">
            <a:avLst/>
          </a:prstGeom>
        </p:spPr>
      </p:pic>
      <p:sp>
        <p:nvSpPr>
          <p:cNvPr id="27" name="Rectangle 26">
            <a:extLst>
              <a:ext uri="{FF2B5EF4-FFF2-40B4-BE49-F238E27FC236}">
                <a16:creationId xmlns:a16="http://schemas.microsoft.com/office/drawing/2014/main" id="{85AEFF94-0E7F-40D2-BB64-2466E9D66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705" y="159026"/>
            <a:ext cx="11870161" cy="6542788"/>
          </a:xfrm>
          <a:prstGeom prst="rect">
            <a:avLst/>
          </a:prstGeom>
          <a:solidFill>
            <a:schemeClr val="bg2">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829B10-5D9D-0855-D3D8-5B06C29FDECD}"/>
              </a:ext>
            </a:extLst>
          </p:cNvPr>
          <p:cNvSpPr>
            <a:spLocks noGrp="1"/>
          </p:cNvSpPr>
          <p:nvPr>
            <p:ph type="ctrTitle"/>
          </p:nvPr>
        </p:nvSpPr>
        <p:spPr>
          <a:xfrm>
            <a:off x="2539253" y="1263650"/>
            <a:ext cx="7113494" cy="1880480"/>
          </a:xfrm>
        </p:spPr>
        <p:txBody>
          <a:bodyPr>
            <a:normAutofit/>
          </a:bodyPr>
          <a:lstStyle/>
          <a:p>
            <a:r>
              <a:rPr lang="en-US" err="1"/>
              <a:t>Thoughtdata</a:t>
            </a:r>
            <a:r>
              <a:rPr lang="en-US"/>
              <a:t>: </a:t>
            </a:r>
            <a:r>
              <a:rPr lang="en-US" err="1"/>
              <a:t>Opentelemetry</a:t>
            </a:r>
            <a:r>
              <a:rPr lang="en-US"/>
              <a:t> Observability Dashboard</a:t>
            </a:r>
          </a:p>
        </p:txBody>
      </p:sp>
      <p:sp>
        <p:nvSpPr>
          <p:cNvPr id="3" name="Subtitle 2">
            <a:extLst>
              <a:ext uri="{FF2B5EF4-FFF2-40B4-BE49-F238E27FC236}">
                <a16:creationId xmlns:a16="http://schemas.microsoft.com/office/drawing/2014/main" id="{C2176396-3FBF-D1EF-B503-BDB91B084041}"/>
              </a:ext>
            </a:extLst>
          </p:cNvPr>
          <p:cNvSpPr>
            <a:spLocks noGrp="1"/>
          </p:cNvSpPr>
          <p:nvPr>
            <p:ph type="subTitle" idx="1"/>
          </p:nvPr>
        </p:nvSpPr>
        <p:spPr>
          <a:xfrm>
            <a:off x="3127375" y="4881845"/>
            <a:ext cx="5937250" cy="1233323"/>
          </a:xfrm>
        </p:spPr>
        <p:txBody>
          <a:bodyPr anchor="t">
            <a:normAutofit fontScale="85000" lnSpcReduction="10000"/>
          </a:bodyPr>
          <a:lstStyle/>
          <a:p>
            <a:r>
              <a:rPr lang="en-US"/>
              <a:t>Milestone #3 Report</a:t>
            </a:r>
          </a:p>
          <a:p>
            <a:r>
              <a:rPr lang="en-US"/>
              <a:t>November 23, 2025</a:t>
            </a:r>
          </a:p>
          <a:p>
            <a:r>
              <a:rPr lang="en-US"/>
              <a:t>Jaytin Bolling, Daniel Ekema, </a:t>
            </a:r>
            <a:r>
              <a:rPr lang="en-US" err="1"/>
              <a:t>Da'kobie</a:t>
            </a:r>
            <a:r>
              <a:rPr lang="en-US"/>
              <a:t> Garcia, Kian Rezaeinejad ​</a:t>
            </a:r>
          </a:p>
        </p:txBody>
      </p:sp>
      <p:grpSp>
        <p:nvGrpSpPr>
          <p:cNvPr id="22" name="Group 21">
            <a:extLst>
              <a:ext uri="{FF2B5EF4-FFF2-40B4-BE49-F238E27FC236}">
                <a16:creationId xmlns:a16="http://schemas.microsoft.com/office/drawing/2014/main" id="{A206FD63-63B5-4FE3-A87F-05F94B21B8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4237480"/>
            <a:ext cx="867485" cy="115439"/>
            <a:chOff x="8910933" y="1861308"/>
            <a:chExt cx="867485" cy="115439"/>
          </a:xfrm>
        </p:grpSpPr>
        <p:sp>
          <p:nvSpPr>
            <p:cNvPr id="23" name="Rectangle 22">
              <a:extLst>
                <a:ext uri="{FF2B5EF4-FFF2-40B4-BE49-F238E27FC236}">
                  <a16:creationId xmlns:a16="http://schemas.microsoft.com/office/drawing/2014/main" id="{6A86DBE9-D336-44D1-92FA-BA402C628C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24" name="Straight Connector 23">
              <a:extLst>
                <a:ext uri="{FF2B5EF4-FFF2-40B4-BE49-F238E27FC236}">
                  <a16:creationId xmlns:a16="http://schemas.microsoft.com/office/drawing/2014/main" id="{6A46B389-851B-469E-BEE7-92EA81669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423CA0E-FA7F-4ACA-9F3B-4FEBC353A4F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5" name="TextBox 4">
            <a:extLst>
              <a:ext uri="{FF2B5EF4-FFF2-40B4-BE49-F238E27FC236}">
                <a16:creationId xmlns:a16="http://schemas.microsoft.com/office/drawing/2014/main" id="{C1172F44-2303-D41F-34B6-F6144D66E857}"/>
              </a:ext>
            </a:extLst>
          </p:cNvPr>
          <p:cNvSpPr txBox="1"/>
          <p:nvPr/>
        </p:nvSpPr>
        <p:spPr>
          <a:xfrm>
            <a:off x="10153650" y="0"/>
            <a:ext cx="1993900" cy="923330"/>
          </a:xfrm>
          <a:prstGeom prst="rect">
            <a:avLst/>
          </a:prstGeom>
          <a:noFill/>
        </p:spPr>
        <p:txBody>
          <a:bodyPr wrap="square" rtlCol="0">
            <a:spAutoFit/>
          </a:bodyPr>
          <a:lstStyle/>
          <a:p>
            <a:pPr fontAlgn="base"/>
            <a:r>
              <a:rPr lang="en-US"/>
              <a:t>IT 4983 W01/W02​​</a:t>
            </a:r>
          </a:p>
          <a:p>
            <a:pPr fontAlgn="base"/>
            <a:r>
              <a:rPr lang="en-US"/>
              <a:t>Privitera</a:t>
            </a:r>
          </a:p>
          <a:p>
            <a:endParaRPr lang="en-US"/>
          </a:p>
        </p:txBody>
      </p:sp>
      <p:sp>
        <p:nvSpPr>
          <p:cNvPr id="6" name="Footer Placeholder 5">
            <a:extLst>
              <a:ext uri="{FF2B5EF4-FFF2-40B4-BE49-F238E27FC236}">
                <a16:creationId xmlns:a16="http://schemas.microsoft.com/office/drawing/2014/main" id="{185D73A3-EA02-7F1A-5707-F79A3F265734}"/>
              </a:ext>
            </a:extLst>
          </p:cNvPr>
          <p:cNvSpPr>
            <a:spLocks noGrp="1"/>
          </p:cNvSpPr>
          <p:nvPr>
            <p:ph type="ftr" sz="quarter" idx="11"/>
          </p:nvPr>
        </p:nvSpPr>
        <p:spPr/>
        <p:txBody>
          <a:bodyPr/>
          <a:lstStyle/>
          <a:p>
            <a:r>
              <a:rPr lang="en-US"/>
              <a:t>Slide 1 of 14</a:t>
            </a:r>
          </a:p>
        </p:txBody>
      </p:sp>
    </p:spTree>
    <p:extLst>
      <p:ext uri="{BB962C8B-B14F-4D97-AF65-F5344CB8AC3E}">
        <p14:creationId xmlns:p14="http://schemas.microsoft.com/office/powerpoint/2010/main" val="971042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EA3A1-1F8C-2310-249B-06CA0A541B25}"/>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931528D8-4B76-7EEB-E74F-D86C5F06FC3F}"/>
              </a:ext>
            </a:extLst>
          </p:cNvPr>
          <p:cNvSpPr>
            <a:spLocks noGrp="1"/>
          </p:cNvSpPr>
          <p:nvPr>
            <p:ph idx="1"/>
          </p:nvPr>
        </p:nvSpPr>
        <p:spPr/>
        <p:txBody>
          <a:bodyPr/>
          <a:lstStyle/>
          <a:p>
            <a:pPr marL="457200" indent="-457200">
              <a:buAutoNum type="arabicPeriod"/>
            </a:pPr>
            <a:r>
              <a:rPr lang="en-US"/>
              <a:t>Progress Summary</a:t>
            </a:r>
          </a:p>
          <a:p>
            <a:pPr marL="457200" indent="-457200">
              <a:buAutoNum type="arabicPeriod"/>
            </a:pPr>
            <a:r>
              <a:rPr lang="en-US"/>
              <a:t>Milestone Assessment</a:t>
            </a:r>
          </a:p>
          <a:p>
            <a:pPr marL="457200" indent="-457200">
              <a:buAutoNum type="arabicPeriod"/>
            </a:pPr>
            <a:r>
              <a:rPr lang="en-US"/>
              <a:t>Tracking and Performance Assessment</a:t>
            </a:r>
          </a:p>
          <a:p>
            <a:pPr marL="457200" indent="-457200">
              <a:buAutoNum type="arabicPeriod"/>
            </a:pPr>
            <a:r>
              <a:rPr lang="en-US"/>
              <a:t>Experiences/Challenges</a:t>
            </a:r>
          </a:p>
        </p:txBody>
      </p:sp>
      <p:sp>
        <p:nvSpPr>
          <p:cNvPr id="4" name="Footer Placeholder 3">
            <a:extLst>
              <a:ext uri="{FF2B5EF4-FFF2-40B4-BE49-F238E27FC236}">
                <a16:creationId xmlns:a16="http://schemas.microsoft.com/office/drawing/2014/main" id="{C1703E6F-AF6D-3D62-6E59-B1FE12A57384}"/>
              </a:ext>
            </a:extLst>
          </p:cNvPr>
          <p:cNvSpPr>
            <a:spLocks noGrp="1"/>
          </p:cNvSpPr>
          <p:nvPr>
            <p:ph type="ftr" sz="quarter" idx="11"/>
          </p:nvPr>
        </p:nvSpPr>
        <p:spPr/>
        <p:txBody>
          <a:bodyPr/>
          <a:lstStyle/>
          <a:p>
            <a:r>
              <a:rPr lang="en-US"/>
              <a:t>Slide 2 of 14</a:t>
            </a:r>
          </a:p>
        </p:txBody>
      </p:sp>
    </p:spTree>
    <p:extLst>
      <p:ext uri="{BB962C8B-B14F-4D97-AF65-F5344CB8AC3E}">
        <p14:creationId xmlns:p14="http://schemas.microsoft.com/office/powerpoint/2010/main" val="2731968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F4C87-ECD6-86B1-2F5C-66AAEBB524F0}"/>
              </a:ext>
            </a:extLst>
          </p:cNvPr>
          <p:cNvSpPr>
            <a:spLocks noGrp="1"/>
          </p:cNvSpPr>
          <p:nvPr>
            <p:ph type="title"/>
          </p:nvPr>
        </p:nvSpPr>
        <p:spPr/>
        <p:txBody>
          <a:bodyPr/>
          <a:lstStyle/>
          <a:p>
            <a:r>
              <a:rPr lang="en-US"/>
              <a:t>Progress Summary</a:t>
            </a:r>
          </a:p>
        </p:txBody>
      </p:sp>
      <p:sp>
        <p:nvSpPr>
          <p:cNvPr id="3" name="Content Placeholder 2">
            <a:extLst>
              <a:ext uri="{FF2B5EF4-FFF2-40B4-BE49-F238E27FC236}">
                <a16:creationId xmlns:a16="http://schemas.microsoft.com/office/drawing/2014/main" id="{230F4CB9-C66B-39B5-AA7B-53CCB8CC6F3E}"/>
              </a:ext>
            </a:extLst>
          </p:cNvPr>
          <p:cNvSpPr>
            <a:spLocks noGrp="1"/>
          </p:cNvSpPr>
          <p:nvPr>
            <p:ph idx="1"/>
          </p:nvPr>
        </p:nvSpPr>
        <p:spPr/>
        <p:txBody>
          <a:bodyPr/>
          <a:lstStyle/>
          <a:p>
            <a:r>
              <a:rPr lang="en-US"/>
              <a:t>The Team has….</a:t>
            </a:r>
          </a:p>
          <a:p>
            <a:pPr marL="342900" indent="-342900">
              <a:buFont typeface="Arial" panose="020B0604020202020204" pitchFamily="34" charset="0"/>
              <a:buChar char="•"/>
            </a:pPr>
            <a:r>
              <a:rPr lang="en-US"/>
              <a:t>Created a working Dashboard that houses Metrics, Traces, Logs</a:t>
            </a:r>
          </a:p>
          <a:p>
            <a:pPr marL="342900" indent="-342900">
              <a:buFont typeface="Arial" panose="020B0604020202020204" pitchFamily="34" charset="0"/>
              <a:buChar char="•"/>
            </a:pPr>
            <a:r>
              <a:rPr lang="en-US"/>
              <a:t>Created Panels that displays such metrics and displays Open-telemetry from the frontend application. </a:t>
            </a:r>
          </a:p>
          <a:p>
            <a:pPr marL="342900" indent="-342900">
              <a:buFont typeface="Arial" panose="020B0604020202020204" pitchFamily="34" charset="0"/>
              <a:buChar char="•"/>
            </a:pPr>
            <a:endParaRPr lang="en-US"/>
          </a:p>
        </p:txBody>
      </p:sp>
      <p:sp>
        <p:nvSpPr>
          <p:cNvPr id="6" name="Footer Placeholder 5">
            <a:extLst>
              <a:ext uri="{FF2B5EF4-FFF2-40B4-BE49-F238E27FC236}">
                <a16:creationId xmlns:a16="http://schemas.microsoft.com/office/drawing/2014/main" id="{D6D72EBE-56D1-9DAC-51D1-984DCCEB3E77}"/>
              </a:ext>
            </a:extLst>
          </p:cNvPr>
          <p:cNvSpPr>
            <a:spLocks noGrp="1"/>
          </p:cNvSpPr>
          <p:nvPr>
            <p:ph type="ftr" sz="quarter" idx="11"/>
          </p:nvPr>
        </p:nvSpPr>
        <p:spPr/>
        <p:txBody>
          <a:bodyPr/>
          <a:lstStyle/>
          <a:p>
            <a:r>
              <a:rPr lang="en-US"/>
              <a:t>Slide 3 of 14</a:t>
            </a:r>
          </a:p>
        </p:txBody>
      </p:sp>
    </p:spTree>
    <p:extLst>
      <p:ext uri="{BB962C8B-B14F-4D97-AF65-F5344CB8AC3E}">
        <p14:creationId xmlns:p14="http://schemas.microsoft.com/office/powerpoint/2010/main" val="1336004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663D2-F6B7-9AAB-9511-1D629346E9EF}"/>
              </a:ext>
            </a:extLst>
          </p:cNvPr>
          <p:cNvSpPr>
            <a:spLocks noGrp="1"/>
          </p:cNvSpPr>
          <p:nvPr>
            <p:ph type="title"/>
          </p:nvPr>
        </p:nvSpPr>
        <p:spPr/>
        <p:txBody>
          <a:bodyPr/>
          <a:lstStyle/>
          <a:p>
            <a:r>
              <a:rPr lang="en-US"/>
              <a:t>Milestone Assessment/ Summary</a:t>
            </a:r>
          </a:p>
        </p:txBody>
      </p:sp>
      <p:graphicFrame>
        <p:nvGraphicFramePr>
          <p:cNvPr id="4" name="Content Placeholder 3">
            <a:extLst>
              <a:ext uri="{FF2B5EF4-FFF2-40B4-BE49-F238E27FC236}">
                <a16:creationId xmlns:a16="http://schemas.microsoft.com/office/drawing/2014/main" id="{C902DB01-BC9C-3628-9019-14C2C5384530}"/>
              </a:ext>
            </a:extLst>
          </p:cNvPr>
          <p:cNvGraphicFramePr>
            <a:graphicFrameLocks noGrp="1"/>
          </p:cNvGraphicFramePr>
          <p:nvPr>
            <p:ph idx="1"/>
            <p:extLst>
              <p:ext uri="{D42A27DB-BD31-4B8C-83A1-F6EECF244321}">
                <p14:modId xmlns:p14="http://schemas.microsoft.com/office/powerpoint/2010/main" val="3028280645"/>
              </p:ext>
            </p:extLst>
          </p:nvPr>
        </p:nvGraphicFramePr>
        <p:xfrm>
          <a:off x="1028700" y="2162175"/>
          <a:ext cx="10134600" cy="3571240"/>
        </p:xfrm>
        <a:graphic>
          <a:graphicData uri="http://schemas.openxmlformats.org/drawingml/2006/table">
            <a:tbl>
              <a:tblPr firstRow="1" bandRow="1">
                <a:tableStyleId>{5C22544A-7EE6-4342-B048-85BDC9FD1C3A}</a:tableStyleId>
              </a:tblPr>
              <a:tblGrid>
                <a:gridCol w="2533650">
                  <a:extLst>
                    <a:ext uri="{9D8B030D-6E8A-4147-A177-3AD203B41FA5}">
                      <a16:colId xmlns:a16="http://schemas.microsoft.com/office/drawing/2014/main" val="450471222"/>
                    </a:ext>
                  </a:extLst>
                </a:gridCol>
                <a:gridCol w="2533650">
                  <a:extLst>
                    <a:ext uri="{9D8B030D-6E8A-4147-A177-3AD203B41FA5}">
                      <a16:colId xmlns:a16="http://schemas.microsoft.com/office/drawing/2014/main" val="2165746139"/>
                    </a:ext>
                  </a:extLst>
                </a:gridCol>
                <a:gridCol w="2533650">
                  <a:extLst>
                    <a:ext uri="{9D8B030D-6E8A-4147-A177-3AD203B41FA5}">
                      <a16:colId xmlns:a16="http://schemas.microsoft.com/office/drawing/2014/main" val="842934379"/>
                    </a:ext>
                  </a:extLst>
                </a:gridCol>
                <a:gridCol w="2533650">
                  <a:extLst>
                    <a:ext uri="{9D8B030D-6E8A-4147-A177-3AD203B41FA5}">
                      <a16:colId xmlns:a16="http://schemas.microsoft.com/office/drawing/2014/main" val="2338957801"/>
                    </a:ext>
                  </a:extLst>
                </a:gridCol>
              </a:tblGrid>
              <a:tr h="370840">
                <a:tc>
                  <a:txBody>
                    <a:bodyPr/>
                    <a:lstStyle/>
                    <a:p>
                      <a:r>
                        <a:rPr lang="en-US"/>
                        <a:t>Milestone</a:t>
                      </a:r>
                    </a:p>
                  </a:txBody>
                  <a:tcPr/>
                </a:tc>
                <a:tc>
                  <a:txBody>
                    <a:bodyPr/>
                    <a:lstStyle/>
                    <a:p>
                      <a:r>
                        <a:rPr lang="en-US"/>
                        <a:t>Date</a:t>
                      </a:r>
                    </a:p>
                  </a:txBody>
                  <a:tcPr/>
                </a:tc>
                <a:tc>
                  <a:txBody>
                    <a:bodyPr/>
                    <a:lstStyle/>
                    <a:p>
                      <a:r>
                        <a:rPr lang="en-US"/>
                        <a:t>Status</a:t>
                      </a:r>
                    </a:p>
                  </a:txBody>
                  <a:tcPr/>
                </a:tc>
                <a:tc>
                  <a:txBody>
                    <a:bodyPr/>
                    <a:lstStyle/>
                    <a:p>
                      <a:r>
                        <a:rPr lang="en-US"/>
                        <a:t>Summary</a:t>
                      </a:r>
                    </a:p>
                  </a:txBody>
                  <a:tcPr/>
                </a:tc>
                <a:extLst>
                  <a:ext uri="{0D108BD9-81ED-4DB2-BD59-A6C34878D82A}">
                    <a16:rowId xmlns:a16="http://schemas.microsoft.com/office/drawing/2014/main" val="938794616"/>
                  </a:ext>
                </a:extLst>
              </a:tr>
              <a:tr h="370840">
                <a:tc>
                  <a:txBody>
                    <a:bodyPr/>
                    <a:lstStyle/>
                    <a:p>
                      <a:r>
                        <a:rPr lang="en-US"/>
                        <a:t>Project Plan/Team Discussion</a:t>
                      </a:r>
                    </a:p>
                  </a:txBody>
                  <a:tcPr/>
                </a:tc>
                <a:tc>
                  <a:txBody>
                    <a:bodyPr/>
                    <a:lstStyle/>
                    <a:p>
                      <a:r>
                        <a:rPr lang="en-US"/>
                        <a:t>9/7/2025</a:t>
                      </a:r>
                    </a:p>
                  </a:txBody>
                  <a:tcPr/>
                </a:tc>
                <a:tc>
                  <a:txBody>
                    <a:bodyPr/>
                    <a:lstStyle/>
                    <a:p>
                      <a:r>
                        <a:rPr lang="en-US"/>
                        <a:t>Completed</a:t>
                      </a:r>
                    </a:p>
                  </a:txBody>
                  <a:tcPr/>
                </a:tc>
                <a:tc>
                  <a:txBody>
                    <a:bodyPr/>
                    <a:lstStyle/>
                    <a:p>
                      <a:r>
                        <a:rPr lang="en-US" sz="1400"/>
                        <a:t>Project Plan was revised twice and further assessed to meet deliverables. </a:t>
                      </a:r>
                    </a:p>
                  </a:txBody>
                  <a:tcPr/>
                </a:tc>
                <a:extLst>
                  <a:ext uri="{0D108BD9-81ED-4DB2-BD59-A6C34878D82A}">
                    <a16:rowId xmlns:a16="http://schemas.microsoft.com/office/drawing/2014/main" val="2121486223"/>
                  </a:ext>
                </a:extLst>
              </a:tr>
              <a:tr h="370840">
                <a:tc>
                  <a:txBody>
                    <a:bodyPr/>
                    <a:lstStyle/>
                    <a:p>
                      <a:r>
                        <a:rPr lang="en-US"/>
                        <a:t>Framework and Architecture design</a:t>
                      </a:r>
                    </a:p>
                  </a:txBody>
                  <a:tcPr/>
                </a:tc>
                <a:tc>
                  <a:txBody>
                    <a:bodyPr/>
                    <a:lstStyle/>
                    <a:p>
                      <a:r>
                        <a:rPr lang="en-US"/>
                        <a:t>11/9/2025</a:t>
                      </a:r>
                    </a:p>
                  </a:txBody>
                  <a:tcPr/>
                </a:tc>
                <a:tc>
                  <a:txBody>
                    <a:bodyPr/>
                    <a:lstStyle/>
                    <a:p>
                      <a:r>
                        <a:rPr lang="en-US"/>
                        <a:t>Completed</a:t>
                      </a:r>
                    </a:p>
                  </a:txBody>
                  <a:tcPr/>
                </a:tc>
                <a:tc>
                  <a:txBody>
                    <a:bodyPr/>
                    <a:lstStyle/>
                    <a:p>
                      <a:r>
                        <a:rPr lang="en-US" sz="1400"/>
                        <a:t>Figma design was a rough draft and design has further developed</a:t>
                      </a:r>
                    </a:p>
                  </a:txBody>
                  <a:tcPr/>
                </a:tc>
                <a:extLst>
                  <a:ext uri="{0D108BD9-81ED-4DB2-BD59-A6C34878D82A}">
                    <a16:rowId xmlns:a16="http://schemas.microsoft.com/office/drawing/2014/main" val="3862295257"/>
                  </a:ext>
                </a:extLst>
              </a:tr>
              <a:tr h="370840">
                <a:tc>
                  <a:txBody>
                    <a:bodyPr/>
                    <a:lstStyle/>
                    <a:p>
                      <a:r>
                        <a:rPr lang="en-US"/>
                        <a:t>Working Prototype with simulated telemetry + frontend demo</a:t>
                      </a:r>
                    </a:p>
                  </a:txBody>
                  <a:tcPr/>
                </a:tc>
                <a:tc>
                  <a:txBody>
                    <a:bodyPr/>
                    <a:lstStyle/>
                    <a:p>
                      <a:r>
                        <a:rPr lang="en-US"/>
                        <a:t>11/14/2025</a:t>
                      </a:r>
                    </a:p>
                  </a:txBody>
                  <a:tcPr/>
                </a:tc>
                <a:tc>
                  <a:txBody>
                    <a:bodyPr/>
                    <a:lstStyle/>
                    <a:p>
                      <a:r>
                        <a:rPr lang="en-US"/>
                        <a:t>Completed</a:t>
                      </a:r>
                    </a:p>
                  </a:txBody>
                  <a:tcPr/>
                </a:tc>
                <a:tc>
                  <a:txBody>
                    <a:bodyPr/>
                    <a:lstStyle/>
                    <a:p>
                      <a:r>
                        <a:rPr lang="en-US" sz="1400"/>
                        <a:t>Prototype was successful, stakeholder feedback has been assessed. </a:t>
                      </a:r>
                    </a:p>
                  </a:txBody>
                  <a:tcPr/>
                </a:tc>
                <a:extLst>
                  <a:ext uri="{0D108BD9-81ED-4DB2-BD59-A6C34878D82A}">
                    <a16:rowId xmlns:a16="http://schemas.microsoft.com/office/drawing/2014/main" val="4129553254"/>
                  </a:ext>
                </a:extLst>
              </a:tr>
              <a:tr h="370840">
                <a:tc>
                  <a:txBody>
                    <a:bodyPr/>
                    <a:lstStyle/>
                    <a:p>
                      <a:r>
                        <a:rPr lang="en-US"/>
                        <a:t>Final systems with live endpoints, testing, documentation</a:t>
                      </a:r>
                    </a:p>
                  </a:txBody>
                  <a:tcPr/>
                </a:tc>
                <a:tc>
                  <a:txBody>
                    <a:bodyPr/>
                    <a:lstStyle/>
                    <a:p>
                      <a:r>
                        <a:rPr lang="en-US"/>
                        <a:t>12/3/2025</a:t>
                      </a:r>
                    </a:p>
                  </a:txBody>
                  <a:tcPr/>
                </a:tc>
                <a:tc>
                  <a:txBody>
                    <a:bodyPr/>
                    <a:lstStyle/>
                    <a:p>
                      <a:r>
                        <a:rPr lang="en-US"/>
                        <a:t>Completed</a:t>
                      </a:r>
                    </a:p>
                    <a:p>
                      <a:endParaRPr lang="en-US"/>
                    </a:p>
                  </a:txBody>
                  <a:tcPr/>
                </a:tc>
                <a:tc>
                  <a:txBody>
                    <a:bodyPr/>
                    <a:lstStyle/>
                    <a:p>
                      <a:r>
                        <a:rPr lang="en-US" sz="1400"/>
                        <a:t>Grafana Dashboard has been made. </a:t>
                      </a:r>
                    </a:p>
                  </a:txBody>
                  <a:tcPr/>
                </a:tc>
                <a:extLst>
                  <a:ext uri="{0D108BD9-81ED-4DB2-BD59-A6C34878D82A}">
                    <a16:rowId xmlns:a16="http://schemas.microsoft.com/office/drawing/2014/main" val="1771878594"/>
                  </a:ext>
                </a:extLst>
              </a:tr>
            </a:tbl>
          </a:graphicData>
        </a:graphic>
      </p:graphicFrame>
      <p:sp>
        <p:nvSpPr>
          <p:cNvPr id="5" name="Footer Placeholder 4">
            <a:extLst>
              <a:ext uri="{FF2B5EF4-FFF2-40B4-BE49-F238E27FC236}">
                <a16:creationId xmlns:a16="http://schemas.microsoft.com/office/drawing/2014/main" id="{96C786BF-2F47-8F7C-1404-F19E04B532E3}"/>
              </a:ext>
            </a:extLst>
          </p:cNvPr>
          <p:cNvSpPr>
            <a:spLocks noGrp="1"/>
          </p:cNvSpPr>
          <p:nvPr>
            <p:ph type="ftr" sz="quarter" idx="11"/>
          </p:nvPr>
        </p:nvSpPr>
        <p:spPr/>
        <p:txBody>
          <a:bodyPr/>
          <a:lstStyle/>
          <a:p>
            <a:r>
              <a:rPr lang="en-US"/>
              <a:t>Slide 4 of 14</a:t>
            </a:r>
          </a:p>
        </p:txBody>
      </p:sp>
    </p:spTree>
    <p:extLst>
      <p:ext uri="{BB962C8B-B14F-4D97-AF65-F5344CB8AC3E}">
        <p14:creationId xmlns:p14="http://schemas.microsoft.com/office/powerpoint/2010/main" val="2863370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D530E-BB41-FB61-42E5-6D46CC7B41C0}"/>
              </a:ext>
            </a:extLst>
          </p:cNvPr>
          <p:cNvSpPr>
            <a:spLocks noGrp="1"/>
          </p:cNvSpPr>
          <p:nvPr>
            <p:ph type="title"/>
          </p:nvPr>
        </p:nvSpPr>
        <p:spPr/>
        <p:txBody>
          <a:bodyPr/>
          <a:lstStyle/>
          <a:p>
            <a:r>
              <a:rPr lang="en-US"/>
              <a:t>Milestone Assessment [Project Plan a. ]</a:t>
            </a:r>
          </a:p>
        </p:txBody>
      </p:sp>
      <p:sp>
        <p:nvSpPr>
          <p:cNvPr id="3" name="Content Placeholder 2">
            <a:extLst>
              <a:ext uri="{FF2B5EF4-FFF2-40B4-BE49-F238E27FC236}">
                <a16:creationId xmlns:a16="http://schemas.microsoft.com/office/drawing/2014/main" id="{FBC9C0F3-3386-448A-7A2E-336CD8986187}"/>
              </a:ext>
            </a:extLst>
          </p:cNvPr>
          <p:cNvSpPr>
            <a:spLocks noGrp="1"/>
          </p:cNvSpPr>
          <p:nvPr>
            <p:ph idx="1"/>
          </p:nvPr>
        </p:nvSpPr>
        <p:spPr/>
        <p:txBody>
          <a:bodyPr/>
          <a:lstStyle/>
          <a:p>
            <a:pPr marL="342900" indent="-342900">
              <a:buFont typeface="Arial" panose="020B0604020202020204" pitchFamily="34" charset="0"/>
              <a:buChar char="•"/>
            </a:pPr>
            <a:r>
              <a:rPr lang="en-US"/>
              <a:t>The Project Plan has been completed and updated. </a:t>
            </a:r>
          </a:p>
          <a:p>
            <a:pPr marL="342900" indent="-342900">
              <a:buFont typeface="Arial" panose="020B0604020202020204" pitchFamily="34" charset="0"/>
              <a:buChar char="•"/>
            </a:pPr>
            <a:r>
              <a:rPr lang="en-US"/>
              <a:t>Roles were established and changes that were made to deliverable times has been further assessed and updated since previous Milestone.</a:t>
            </a:r>
          </a:p>
          <a:p>
            <a:pPr marL="342900" indent="-342900">
              <a:buFont typeface="Arial" panose="020B0604020202020204" pitchFamily="34" charset="0"/>
              <a:buChar char="•"/>
            </a:pPr>
            <a:r>
              <a:rPr lang="en-US"/>
              <a:t>The MS Project has been updated to show completion of the tasks. </a:t>
            </a:r>
          </a:p>
        </p:txBody>
      </p:sp>
      <p:sp>
        <p:nvSpPr>
          <p:cNvPr id="4" name="Footer Placeholder 3">
            <a:extLst>
              <a:ext uri="{FF2B5EF4-FFF2-40B4-BE49-F238E27FC236}">
                <a16:creationId xmlns:a16="http://schemas.microsoft.com/office/drawing/2014/main" id="{D2736644-1539-2067-D2C6-AD03E2F65294}"/>
              </a:ext>
            </a:extLst>
          </p:cNvPr>
          <p:cNvSpPr>
            <a:spLocks noGrp="1"/>
          </p:cNvSpPr>
          <p:nvPr>
            <p:ph type="ftr" sz="quarter" idx="11"/>
          </p:nvPr>
        </p:nvSpPr>
        <p:spPr/>
        <p:txBody>
          <a:bodyPr/>
          <a:lstStyle/>
          <a:p>
            <a:r>
              <a:rPr lang="en-US"/>
              <a:t>Slide 5 of 14</a:t>
            </a:r>
          </a:p>
        </p:txBody>
      </p:sp>
    </p:spTree>
    <p:extLst>
      <p:ext uri="{BB962C8B-B14F-4D97-AF65-F5344CB8AC3E}">
        <p14:creationId xmlns:p14="http://schemas.microsoft.com/office/powerpoint/2010/main" val="1897160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51A01047-632B-4F57-9CDB-AA680D5BBB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5">
            <a:extLst>
              <a:ext uri="{FF2B5EF4-FFF2-40B4-BE49-F238E27FC236}">
                <a16:creationId xmlns:a16="http://schemas.microsoft.com/office/drawing/2014/main" id="{48EF695B-E7DE-4164-862A-9CD06DFB0E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11258" y="723900"/>
            <a:ext cx="4580642" cy="5494694"/>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6096000 w 6096000"/>
              <a:gd name="connsiteY2" fmla="*/ 6858000 h 6858000"/>
              <a:gd name="connsiteX3" fmla="*/ 3058886 w 6096000"/>
              <a:gd name="connsiteY3" fmla="*/ 6858000 h 6858000"/>
              <a:gd name="connsiteX4" fmla="*/ 0 w 6096000"/>
              <a:gd name="connsiteY4" fmla="*/ 6858000 h 6858000"/>
              <a:gd name="connsiteX5" fmla="*/ 0 w 6096000"/>
              <a:gd name="connsiteY5" fmla="*/ 0 h 6858000"/>
              <a:gd name="connsiteX0" fmla="*/ 0 w 6096000"/>
              <a:gd name="connsiteY0" fmla="*/ 0 h 6858000"/>
              <a:gd name="connsiteX1" fmla="*/ 6096000 w 6096000"/>
              <a:gd name="connsiteY1" fmla="*/ 0 h 6858000"/>
              <a:gd name="connsiteX2" fmla="*/ 6096000 w 6096000"/>
              <a:gd name="connsiteY2" fmla="*/ 6858000 h 6858000"/>
              <a:gd name="connsiteX3" fmla="*/ 3037115 w 6096000"/>
              <a:gd name="connsiteY3" fmla="*/ 5889172 h 6858000"/>
              <a:gd name="connsiteX4" fmla="*/ 0 w 6096000"/>
              <a:gd name="connsiteY4" fmla="*/ 6858000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6096000" y="0"/>
                </a:lnTo>
                <a:lnTo>
                  <a:pt x="6096000" y="6858000"/>
                </a:lnTo>
                <a:lnTo>
                  <a:pt x="3037115" y="5889172"/>
                </a:lnTo>
                <a:lnTo>
                  <a:pt x="0" y="6858000"/>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0FAF06-F184-FDAE-487F-AB94FF787591}"/>
              </a:ext>
            </a:extLst>
          </p:cNvPr>
          <p:cNvSpPr>
            <a:spLocks noGrp="1"/>
          </p:cNvSpPr>
          <p:nvPr>
            <p:ph type="title"/>
          </p:nvPr>
        </p:nvSpPr>
        <p:spPr>
          <a:xfrm>
            <a:off x="7114290" y="1000366"/>
            <a:ext cx="3974578" cy="1239627"/>
          </a:xfrm>
        </p:spPr>
        <p:txBody>
          <a:bodyPr anchor="b">
            <a:normAutofit/>
          </a:bodyPr>
          <a:lstStyle/>
          <a:p>
            <a:pPr algn="ctr"/>
            <a:r>
              <a:rPr lang="en-US"/>
              <a:t>Milestone Assessment [Project Plan b. ]</a:t>
            </a:r>
          </a:p>
        </p:txBody>
      </p:sp>
      <p:sp>
        <p:nvSpPr>
          <p:cNvPr id="3" name="Content Placeholder 2">
            <a:extLst>
              <a:ext uri="{FF2B5EF4-FFF2-40B4-BE49-F238E27FC236}">
                <a16:creationId xmlns:a16="http://schemas.microsoft.com/office/drawing/2014/main" id="{5EBDC973-EF91-6A99-72B7-FB6BF138A928}"/>
              </a:ext>
            </a:extLst>
          </p:cNvPr>
          <p:cNvSpPr>
            <a:spLocks noGrp="1"/>
          </p:cNvSpPr>
          <p:nvPr>
            <p:ph idx="1"/>
          </p:nvPr>
        </p:nvSpPr>
        <p:spPr>
          <a:xfrm>
            <a:off x="7126241" y="2884395"/>
            <a:ext cx="3950677" cy="2469140"/>
          </a:xfrm>
        </p:spPr>
        <p:txBody>
          <a:bodyPr vert="horz" lIns="91440" tIns="45720" rIns="91440" bIns="45720" rtlCol="0">
            <a:normAutofit/>
          </a:bodyPr>
          <a:lstStyle/>
          <a:p>
            <a:pPr marL="342900" indent="-342900" algn="ctr">
              <a:buFont typeface="Arial" panose="020B0604020202020204" pitchFamily="34" charset="0"/>
              <a:buChar char="•"/>
            </a:pPr>
            <a:r>
              <a:rPr lang="en-US"/>
              <a:t>One of the slightest changes we administered was the changing of the frontend. The display went from the HOTROD application to a better more suitable UI called OTEL demo. </a:t>
            </a:r>
          </a:p>
        </p:txBody>
      </p:sp>
      <p:pic>
        <p:nvPicPr>
          <p:cNvPr id="1026" name="Picture 2" descr="A screenshot of a computer&#10;&#10;AI-generated content may be incorrect.">
            <a:extLst>
              <a:ext uri="{FF2B5EF4-FFF2-40B4-BE49-F238E27FC236}">
                <a16:creationId xmlns:a16="http://schemas.microsoft.com/office/drawing/2014/main" id="{C101E408-0FA7-E3A0-14B6-216433AE93D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23817" y="723900"/>
            <a:ext cx="4372266" cy="257963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collage of telescope and binoculars&#10;&#10;AI-generated content may be incorrect.">
            <a:extLst>
              <a:ext uri="{FF2B5EF4-FFF2-40B4-BE49-F238E27FC236}">
                <a16:creationId xmlns:a16="http://schemas.microsoft.com/office/drawing/2014/main" id="{147BBD4F-D465-9F2B-8D12-48B7DA611CF8}"/>
              </a:ext>
            </a:extLst>
          </p:cNvPr>
          <p:cNvPicPr>
            <a:picLocks noChangeAspect="1"/>
          </p:cNvPicPr>
          <p:nvPr/>
        </p:nvPicPr>
        <p:blipFill>
          <a:blip r:embed="rId3"/>
          <a:stretch>
            <a:fillRect/>
          </a:stretch>
        </p:blipFill>
        <p:spPr>
          <a:xfrm>
            <a:off x="1132821" y="3554463"/>
            <a:ext cx="4545615" cy="2579637"/>
          </a:xfrm>
          <a:prstGeom prst="rect">
            <a:avLst/>
          </a:prstGeom>
        </p:spPr>
      </p:pic>
      <p:sp>
        <p:nvSpPr>
          <p:cNvPr id="4" name="Footer Placeholder 3">
            <a:extLst>
              <a:ext uri="{FF2B5EF4-FFF2-40B4-BE49-F238E27FC236}">
                <a16:creationId xmlns:a16="http://schemas.microsoft.com/office/drawing/2014/main" id="{66A80FB7-88BC-3CAC-7829-24926A403738}"/>
              </a:ext>
            </a:extLst>
          </p:cNvPr>
          <p:cNvSpPr>
            <a:spLocks noGrp="1"/>
          </p:cNvSpPr>
          <p:nvPr>
            <p:ph type="ftr" sz="quarter" idx="11"/>
          </p:nvPr>
        </p:nvSpPr>
        <p:spPr>
          <a:xfrm>
            <a:off x="7279964" y="6245033"/>
            <a:ext cx="4112222" cy="365125"/>
          </a:xfrm>
        </p:spPr>
        <p:txBody>
          <a:bodyPr>
            <a:normAutofit/>
          </a:bodyPr>
          <a:lstStyle/>
          <a:p>
            <a:pPr>
              <a:spcAft>
                <a:spcPts val="600"/>
              </a:spcAft>
            </a:pPr>
            <a:r>
              <a:rPr lang="en-US"/>
              <a:t>Slide 6 of 14</a:t>
            </a:r>
          </a:p>
        </p:txBody>
      </p:sp>
      <p:grpSp>
        <p:nvGrpSpPr>
          <p:cNvPr id="1035" name="Group 1034">
            <a:extLst>
              <a:ext uri="{FF2B5EF4-FFF2-40B4-BE49-F238E27FC236}">
                <a16:creationId xmlns:a16="http://schemas.microsoft.com/office/drawing/2014/main" id="{D5ADB088-C125-457F-9C61-DFE21DCEF4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67837" y="2543656"/>
            <a:ext cx="867485" cy="115439"/>
            <a:chOff x="8910933" y="1861308"/>
            <a:chExt cx="867485" cy="115439"/>
          </a:xfrm>
        </p:grpSpPr>
        <p:sp>
          <p:nvSpPr>
            <p:cNvPr id="1036" name="Rectangle 1035">
              <a:extLst>
                <a:ext uri="{FF2B5EF4-FFF2-40B4-BE49-F238E27FC236}">
                  <a16:creationId xmlns:a16="http://schemas.microsoft.com/office/drawing/2014/main" id="{6DE177E3-7A50-4A27-B466-79375BA19D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37" name="Straight Connector 1036">
              <a:extLst>
                <a:ext uri="{FF2B5EF4-FFF2-40B4-BE49-F238E27FC236}">
                  <a16:creationId xmlns:a16="http://schemas.microsoft.com/office/drawing/2014/main" id="{6F53D207-3550-41FA-BBC0-A5220E7346D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38" name="Straight Connector 1037">
              <a:extLst>
                <a:ext uri="{FF2B5EF4-FFF2-40B4-BE49-F238E27FC236}">
                  <a16:creationId xmlns:a16="http://schemas.microsoft.com/office/drawing/2014/main" id="{6EF5A581-4EC8-4E1B-BF64-8A1FE8530F2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71736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A8720-545F-2459-C75E-9C8C593CA821}"/>
              </a:ext>
            </a:extLst>
          </p:cNvPr>
          <p:cNvSpPr>
            <a:spLocks noGrp="1"/>
          </p:cNvSpPr>
          <p:nvPr>
            <p:ph type="title"/>
          </p:nvPr>
        </p:nvSpPr>
        <p:spPr/>
        <p:txBody>
          <a:bodyPr/>
          <a:lstStyle/>
          <a:p>
            <a:r>
              <a:rPr lang="en-US"/>
              <a:t>Milestone Assessment [Framework a.]</a:t>
            </a:r>
          </a:p>
        </p:txBody>
      </p:sp>
      <p:sp>
        <p:nvSpPr>
          <p:cNvPr id="3" name="Content Placeholder 2">
            <a:extLst>
              <a:ext uri="{FF2B5EF4-FFF2-40B4-BE49-F238E27FC236}">
                <a16:creationId xmlns:a16="http://schemas.microsoft.com/office/drawing/2014/main" id="{EF7DE97B-0670-606D-C050-BADE9A126DDB}"/>
              </a:ext>
            </a:extLst>
          </p:cNvPr>
          <p:cNvSpPr>
            <a:spLocks noGrp="1"/>
          </p:cNvSpPr>
          <p:nvPr>
            <p:ph idx="1"/>
          </p:nvPr>
        </p:nvSpPr>
        <p:spPr/>
        <p:txBody>
          <a:bodyPr/>
          <a:lstStyle/>
          <a:p>
            <a:pPr marL="342900" indent="-342900">
              <a:buFont typeface="Arial" panose="020B0604020202020204" pitchFamily="34" charset="0"/>
              <a:buChar char="•"/>
            </a:pPr>
            <a:r>
              <a:rPr lang="en-US"/>
              <a:t>The Framework and Design was originally designed through </a:t>
            </a:r>
            <a:r>
              <a:rPr lang="en-US" err="1"/>
              <a:t>figma</a:t>
            </a:r>
            <a:r>
              <a:rPr lang="en-US"/>
              <a:t>. The design was to the teams best understanding of how the dashboard should work but later was shifted to the display of Grafana</a:t>
            </a:r>
          </a:p>
          <a:p>
            <a:pPr marL="342900" indent="-342900">
              <a:buFont typeface="Arial" panose="020B0604020202020204" pitchFamily="34" charset="0"/>
              <a:buChar char="•"/>
            </a:pPr>
            <a:r>
              <a:rPr lang="en-US"/>
              <a:t>Now the Framework follows the Grafana Dashboard’s standards to display OTEL Dashboard panels. </a:t>
            </a:r>
          </a:p>
          <a:p>
            <a:pPr marL="342900" indent="-342900">
              <a:buFont typeface="Arial" panose="020B0604020202020204" pitchFamily="34" charset="0"/>
              <a:buChar char="•"/>
            </a:pPr>
            <a:r>
              <a:rPr lang="en-US"/>
              <a:t>The design displays Errors and activity, which gives useful information about the status of the whole conjunction. </a:t>
            </a:r>
          </a:p>
        </p:txBody>
      </p:sp>
      <p:sp>
        <p:nvSpPr>
          <p:cNvPr id="4" name="Footer Placeholder 3">
            <a:extLst>
              <a:ext uri="{FF2B5EF4-FFF2-40B4-BE49-F238E27FC236}">
                <a16:creationId xmlns:a16="http://schemas.microsoft.com/office/drawing/2014/main" id="{BF1BEA5F-AF70-CE90-03F0-3AF85EE40D12}"/>
              </a:ext>
            </a:extLst>
          </p:cNvPr>
          <p:cNvSpPr>
            <a:spLocks noGrp="1"/>
          </p:cNvSpPr>
          <p:nvPr>
            <p:ph type="ftr" sz="quarter" idx="11"/>
          </p:nvPr>
        </p:nvSpPr>
        <p:spPr/>
        <p:txBody>
          <a:bodyPr/>
          <a:lstStyle/>
          <a:p>
            <a:r>
              <a:rPr lang="en-US"/>
              <a:t>Slide 7 of 14</a:t>
            </a:r>
          </a:p>
        </p:txBody>
      </p:sp>
      <p:sp>
        <p:nvSpPr>
          <p:cNvPr id="5" name="Rectangle 4">
            <a:extLst>
              <a:ext uri="{FF2B5EF4-FFF2-40B4-BE49-F238E27FC236}">
                <a16:creationId xmlns:a16="http://schemas.microsoft.com/office/drawing/2014/main" id="{A7EAF5F5-5137-355A-298F-D17C4608D778}"/>
              </a:ext>
            </a:extLst>
          </p:cNvPr>
          <p:cNvSpPr/>
          <p:nvPr/>
        </p:nvSpPr>
        <p:spPr>
          <a:xfrm>
            <a:off x="1078173" y="5227093"/>
            <a:ext cx="1610436" cy="9041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A90593F-31F1-E275-3429-8D022663B9CB}"/>
              </a:ext>
            </a:extLst>
          </p:cNvPr>
          <p:cNvSpPr/>
          <p:nvPr/>
        </p:nvSpPr>
        <p:spPr>
          <a:xfrm>
            <a:off x="8629650" y="5227093"/>
            <a:ext cx="1610436" cy="9041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C4DF218-0DB1-50FD-CF46-C32A4C470D96}"/>
              </a:ext>
            </a:extLst>
          </p:cNvPr>
          <p:cNvSpPr/>
          <p:nvPr/>
        </p:nvSpPr>
        <p:spPr>
          <a:xfrm>
            <a:off x="6096000" y="5227093"/>
            <a:ext cx="1610436" cy="9041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21706E1-57E9-DD21-AE12-852B83BB43CB}"/>
              </a:ext>
            </a:extLst>
          </p:cNvPr>
          <p:cNvSpPr/>
          <p:nvPr/>
        </p:nvSpPr>
        <p:spPr>
          <a:xfrm>
            <a:off x="3587086" y="5227093"/>
            <a:ext cx="1610436" cy="9041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270804A4-2828-2854-5422-0A682B77E057}"/>
              </a:ext>
            </a:extLst>
          </p:cNvPr>
          <p:cNvCxnSpPr/>
          <p:nvPr/>
        </p:nvCxnSpPr>
        <p:spPr>
          <a:xfrm>
            <a:off x="2813050" y="5679169"/>
            <a:ext cx="6794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E023609-215C-72BB-D013-45BB64EB9A50}"/>
              </a:ext>
            </a:extLst>
          </p:cNvPr>
          <p:cNvCxnSpPr/>
          <p:nvPr/>
        </p:nvCxnSpPr>
        <p:spPr>
          <a:xfrm>
            <a:off x="5334000" y="5681438"/>
            <a:ext cx="6794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F306E6D-927A-21A8-88F6-715401FC32F3}"/>
              </a:ext>
            </a:extLst>
          </p:cNvPr>
          <p:cNvCxnSpPr/>
          <p:nvPr/>
        </p:nvCxnSpPr>
        <p:spPr>
          <a:xfrm>
            <a:off x="7823200" y="5679169"/>
            <a:ext cx="6794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CC9EEEE-8B8B-26FE-2EE0-C1C636BF5EFB}"/>
              </a:ext>
            </a:extLst>
          </p:cNvPr>
          <p:cNvSpPr txBox="1"/>
          <p:nvPr/>
        </p:nvSpPr>
        <p:spPr>
          <a:xfrm>
            <a:off x="1157311" y="5494503"/>
            <a:ext cx="1514522" cy="369332"/>
          </a:xfrm>
          <a:prstGeom prst="rect">
            <a:avLst/>
          </a:prstGeom>
          <a:noFill/>
        </p:spPr>
        <p:txBody>
          <a:bodyPr wrap="square" rtlCol="0">
            <a:spAutoFit/>
          </a:bodyPr>
          <a:lstStyle/>
          <a:p>
            <a:r>
              <a:rPr lang="en-US"/>
              <a:t>OTEL Demo</a:t>
            </a:r>
          </a:p>
        </p:txBody>
      </p:sp>
      <p:sp>
        <p:nvSpPr>
          <p:cNvPr id="15" name="TextBox 14">
            <a:extLst>
              <a:ext uri="{FF2B5EF4-FFF2-40B4-BE49-F238E27FC236}">
                <a16:creationId xmlns:a16="http://schemas.microsoft.com/office/drawing/2014/main" id="{FB785DD7-ECDD-09BD-0751-ED72B9399DF1}"/>
              </a:ext>
            </a:extLst>
          </p:cNvPr>
          <p:cNvSpPr txBox="1"/>
          <p:nvPr/>
        </p:nvSpPr>
        <p:spPr>
          <a:xfrm>
            <a:off x="3567989" y="5494503"/>
            <a:ext cx="1724736" cy="369332"/>
          </a:xfrm>
          <a:prstGeom prst="rect">
            <a:avLst/>
          </a:prstGeom>
          <a:noFill/>
        </p:spPr>
        <p:txBody>
          <a:bodyPr wrap="square" rtlCol="0">
            <a:spAutoFit/>
          </a:bodyPr>
          <a:lstStyle/>
          <a:p>
            <a:r>
              <a:rPr lang="en-US"/>
              <a:t>Docker Desktop</a:t>
            </a:r>
          </a:p>
        </p:txBody>
      </p:sp>
      <p:sp>
        <p:nvSpPr>
          <p:cNvPr id="16" name="TextBox 15">
            <a:extLst>
              <a:ext uri="{FF2B5EF4-FFF2-40B4-BE49-F238E27FC236}">
                <a16:creationId xmlns:a16="http://schemas.microsoft.com/office/drawing/2014/main" id="{BF9A3862-018D-DCC3-A175-6B5234B06A9F}"/>
              </a:ext>
            </a:extLst>
          </p:cNvPr>
          <p:cNvSpPr txBox="1"/>
          <p:nvPr/>
        </p:nvSpPr>
        <p:spPr>
          <a:xfrm>
            <a:off x="6130214" y="5356003"/>
            <a:ext cx="1610436" cy="646331"/>
          </a:xfrm>
          <a:prstGeom prst="rect">
            <a:avLst/>
          </a:prstGeom>
          <a:noFill/>
        </p:spPr>
        <p:txBody>
          <a:bodyPr wrap="square" rtlCol="0">
            <a:spAutoFit/>
          </a:bodyPr>
          <a:lstStyle/>
          <a:p>
            <a:r>
              <a:rPr lang="en-US" err="1"/>
              <a:t>Elastisearch</a:t>
            </a:r>
            <a:r>
              <a:rPr lang="en-US"/>
              <a:t> and Prometheus</a:t>
            </a:r>
          </a:p>
        </p:txBody>
      </p:sp>
      <p:sp>
        <p:nvSpPr>
          <p:cNvPr id="17" name="TextBox 16">
            <a:extLst>
              <a:ext uri="{FF2B5EF4-FFF2-40B4-BE49-F238E27FC236}">
                <a16:creationId xmlns:a16="http://schemas.microsoft.com/office/drawing/2014/main" id="{C8B75D62-2D6B-9D18-7AED-977C321AE1F2}"/>
              </a:ext>
            </a:extLst>
          </p:cNvPr>
          <p:cNvSpPr txBox="1"/>
          <p:nvPr/>
        </p:nvSpPr>
        <p:spPr>
          <a:xfrm>
            <a:off x="8659125" y="5356002"/>
            <a:ext cx="1551486" cy="646331"/>
          </a:xfrm>
          <a:prstGeom prst="rect">
            <a:avLst/>
          </a:prstGeom>
          <a:noFill/>
        </p:spPr>
        <p:txBody>
          <a:bodyPr wrap="square" rtlCol="0">
            <a:spAutoFit/>
          </a:bodyPr>
          <a:lstStyle/>
          <a:p>
            <a:pPr algn="ctr"/>
            <a:r>
              <a:rPr lang="en-US"/>
              <a:t>Grafana </a:t>
            </a:r>
          </a:p>
          <a:p>
            <a:pPr algn="ctr"/>
            <a:r>
              <a:rPr lang="en-US"/>
              <a:t>Dashboard</a:t>
            </a:r>
          </a:p>
        </p:txBody>
      </p:sp>
    </p:spTree>
    <p:extLst>
      <p:ext uri="{BB962C8B-B14F-4D97-AF65-F5344CB8AC3E}">
        <p14:creationId xmlns:p14="http://schemas.microsoft.com/office/powerpoint/2010/main" val="2070590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158E38A4-F699-490C-8D1F-E8AD332D9B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939C6AAB-48AC-41A3-95C2-6BF83715DF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F6EE861B-7D2F-4B7C-A6E3-5937E81B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60903" y="159026"/>
            <a:ext cx="5778697" cy="6542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5DDBE1-518F-5E23-FD51-10716871881C}"/>
              </a:ext>
            </a:extLst>
          </p:cNvPr>
          <p:cNvSpPr>
            <a:spLocks noGrp="1"/>
          </p:cNvSpPr>
          <p:nvPr>
            <p:ph type="title"/>
          </p:nvPr>
        </p:nvSpPr>
        <p:spPr>
          <a:xfrm>
            <a:off x="6849264" y="733100"/>
            <a:ext cx="4618836" cy="1275669"/>
          </a:xfrm>
        </p:spPr>
        <p:txBody>
          <a:bodyPr anchor="b">
            <a:normAutofit/>
          </a:bodyPr>
          <a:lstStyle/>
          <a:p>
            <a:pPr algn="ctr"/>
            <a:r>
              <a:rPr lang="en-US"/>
              <a:t>Milestone Assessment [Framework b.]</a:t>
            </a:r>
          </a:p>
        </p:txBody>
      </p:sp>
      <p:sp>
        <p:nvSpPr>
          <p:cNvPr id="10" name="Content Placeholder 9">
            <a:extLst>
              <a:ext uri="{FF2B5EF4-FFF2-40B4-BE49-F238E27FC236}">
                <a16:creationId xmlns:a16="http://schemas.microsoft.com/office/drawing/2014/main" id="{128442CA-6EB3-1C9C-558C-F1A08585F3F7}"/>
              </a:ext>
            </a:extLst>
          </p:cNvPr>
          <p:cNvSpPr>
            <a:spLocks noGrp="1"/>
          </p:cNvSpPr>
          <p:nvPr>
            <p:ph idx="1"/>
          </p:nvPr>
        </p:nvSpPr>
        <p:spPr>
          <a:xfrm>
            <a:off x="7124701" y="2216151"/>
            <a:ext cx="4038600" cy="3390900"/>
          </a:xfrm>
        </p:spPr>
        <p:txBody>
          <a:bodyPr anchor="t">
            <a:normAutofit/>
          </a:bodyPr>
          <a:lstStyle/>
          <a:p>
            <a:pPr algn="ctr"/>
            <a:r>
              <a:rPr lang="en-US"/>
              <a:t>The original architecture was a prenotion design before further evaluating how Grafana works. </a:t>
            </a:r>
          </a:p>
          <a:p>
            <a:pPr algn="ctr"/>
            <a:r>
              <a:rPr lang="en-US"/>
              <a:t>The bottom is the correct and what to expect from the Grafana Dashboard.</a:t>
            </a:r>
          </a:p>
        </p:txBody>
      </p:sp>
      <p:pic>
        <p:nvPicPr>
          <p:cNvPr id="6" name="Content Placeholder 5" descr="A screenshot of a computer&#10;&#10;AI-generated content may be incorrect.">
            <a:extLst>
              <a:ext uri="{FF2B5EF4-FFF2-40B4-BE49-F238E27FC236}">
                <a16:creationId xmlns:a16="http://schemas.microsoft.com/office/drawing/2014/main" id="{261318E1-1EA2-AA0F-23DE-85333AC887F3}"/>
              </a:ext>
            </a:extLst>
          </p:cNvPr>
          <p:cNvPicPr>
            <a:picLocks noChangeAspect="1"/>
          </p:cNvPicPr>
          <p:nvPr/>
        </p:nvPicPr>
        <p:blipFill>
          <a:blip r:embed="rId2">
            <a:extLst>
              <a:ext uri="{28A0092B-C50C-407E-A947-70E740481C1C}">
                <a14:useLocalDpi xmlns:a14="http://schemas.microsoft.com/office/drawing/2010/main" val="0"/>
              </a:ext>
            </a:extLst>
          </a:blip>
          <a:srcRect t="16685" b="17208"/>
          <a:stretch>
            <a:fillRect/>
          </a:stretch>
        </p:blipFill>
        <p:spPr>
          <a:xfrm>
            <a:off x="20" y="1"/>
            <a:ext cx="6102428" cy="3429000"/>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12C567CC-3663-2CF4-E292-3C81FB3B805A}"/>
              </a:ext>
            </a:extLst>
          </p:cNvPr>
          <p:cNvPicPr>
            <a:picLocks noChangeAspect="1"/>
          </p:cNvPicPr>
          <p:nvPr/>
        </p:nvPicPr>
        <p:blipFill>
          <a:blip r:embed="rId3">
            <a:alphaModFix/>
          </a:blip>
          <a:srcRect r="-1" b="1850"/>
          <a:stretch>
            <a:fillRect/>
          </a:stretch>
        </p:blipFill>
        <p:spPr>
          <a:xfrm>
            <a:off x="-1" y="3429000"/>
            <a:ext cx="6102448" cy="3429000"/>
          </a:xfrm>
          <a:prstGeom prst="rect">
            <a:avLst/>
          </a:prstGeom>
        </p:spPr>
      </p:pic>
      <p:sp>
        <p:nvSpPr>
          <p:cNvPr id="4" name="Footer Placeholder 3">
            <a:extLst>
              <a:ext uri="{FF2B5EF4-FFF2-40B4-BE49-F238E27FC236}">
                <a16:creationId xmlns:a16="http://schemas.microsoft.com/office/drawing/2014/main" id="{D2529EE5-0F22-B295-4D55-AB97339453CA}"/>
              </a:ext>
            </a:extLst>
          </p:cNvPr>
          <p:cNvSpPr>
            <a:spLocks noGrp="1"/>
          </p:cNvSpPr>
          <p:nvPr>
            <p:ph type="ftr" sz="quarter" idx="11"/>
          </p:nvPr>
        </p:nvSpPr>
        <p:spPr>
          <a:xfrm>
            <a:off x="7279964" y="6245033"/>
            <a:ext cx="4112222" cy="365125"/>
          </a:xfrm>
        </p:spPr>
        <p:txBody>
          <a:bodyPr>
            <a:normAutofit/>
          </a:bodyPr>
          <a:lstStyle/>
          <a:p>
            <a:pPr>
              <a:spcAft>
                <a:spcPts val="600"/>
              </a:spcAft>
            </a:pPr>
            <a:r>
              <a:rPr lang="en-US"/>
              <a:t>Slide 8 of 14</a:t>
            </a:r>
          </a:p>
        </p:txBody>
      </p:sp>
      <p:grpSp>
        <p:nvGrpSpPr>
          <p:cNvPr id="40" name="Group 39">
            <a:extLst>
              <a:ext uri="{FF2B5EF4-FFF2-40B4-BE49-F238E27FC236}">
                <a16:creationId xmlns:a16="http://schemas.microsoft.com/office/drawing/2014/main" id="{53745597-CF0F-4C14-83C4-612B382A909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710258" y="5849932"/>
            <a:ext cx="867485" cy="115439"/>
            <a:chOff x="8910933" y="1861308"/>
            <a:chExt cx="867485" cy="115439"/>
          </a:xfrm>
        </p:grpSpPr>
        <p:sp>
          <p:nvSpPr>
            <p:cNvPr id="41" name="Rectangle 40">
              <a:extLst>
                <a:ext uri="{FF2B5EF4-FFF2-40B4-BE49-F238E27FC236}">
                  <a16:creationId xmlns:a16="http://schemas.microsoft.com/office/drawing/2014/main" id="{471CB755-D435-4BD8-A3DB-B304ED0E7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42" name="Straight Connector 41">
              <a:extLst>
                <a:ext uri="{FF2B5EF4-FFF2-40B4-BE49-F238E27FC236}">
                  <a16:creationId xmlns:a16="http://schemas.microsoft.com/office/drawing/2014/main" id="{0B7F2CAE-48A1-4EAD-BDD1-4DA217AC0FF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98FB73A0-9D61-4989-BA5F-7EF6308D864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96397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6E299-66FD-A3E6-B508-C8C05AFD1092}"/>
              </a:ext>
            </a:extLst>
          </p:cNvPr>
          <p:cNvSpPr>
            <a:spLocks noGrp="1"/>
          </p:cNvSpPr>
          <p:nvPr>
            <p:ph type="title"/>
          </p:nvPr>
        </p:nvSpPr>
        <p:spPr/>
        <p:txBody>
          <a:bodyPr/>
          <a:lstStyle/>
          <a:p>
            <a:r>
              <a:rPr lang="en-US"/>
              <a:t>Milestone Assessment [Prototype]</a:t>
            </a:r>
          </a:p>
        </p:txBody>
      </p:sp>
      <p:sp>
        <p:nvSpPr>
          <p:cNvPr id="3" name="Content Placeholder 2">
            <a:extLst>
              <a:ext uri="{FF2B5EF4-FFF2-40B4-BE49-F238E27FC236}">
                <a16:creationId xmlns:a16="http://schemas.microsoft.com/office/drawing/2014/main" id="{88E012E0-89C6-3ED2-041A-200117A0366D}"/>
              </a:ext>
            </a:extLst>
          </p:cNvPr>
          <p:cNvSpPr>
            <a:spLocks noGrp="1"/>
          </p:cNvSpPr>
          <p:nvPr>
            <p:ph idx="1"/>
          </p:nvPr>
        </p:nvSpPr>
        <p:spPr/>
        <p:txBody>
          <a:bodyPr/>
          <a:lstStyle/>
          <a:p>
            <a:pPr marL="342900" indent="-342900">
              <a:buFont typeface="Arial" panose="020B0604020202020204" pitchFamily="34" charset="0"/>
              <a:buChar char="•"/>
            </a:pPr>
            <a:r>
              <a:rPr lang="en-US"/>
              <a:t>The prototype showed how Grafana was running with the frontend and hosted to the server. </a:t>
            </a:r>
          </a:p>
          <a:p>
            <a:pPr marL="342900" indent="-342900">
              <a:buFont typeface="Arial" panose="020B0604020202020204" pitchFamily="34" charset="0"/>
              <a:buChar char="•"/>
            </a:pPr>
            <a:r>
              <a:rPr lang="en-US"/>
              <a:t>This was an opportunity to get feedback on what could be better and what should be the next steps which the biggest callout was the use of open search instead of Elasticsearch, which we finished connecting!</a:t>
            </a:r>
          </a:p>
          <a:p>
            <a:r>
              <a:rPr lang="en-US"/>
              <a:t>Reminder:</a:t>
            </a:r>
          </a:p>
        </p:txBody>
      </p:sp>
      <p:sp>
        <p:nvSpPr>
          <p:cNvPr id="4" name="Footer Placeholder 3">
            <a:extLst>
              <a:ext uri="{FF2B5EF4-FFF2-40B4-BE49-F238E27FC236}">
                <a16:creationId xmlns:a16="http://schemas.microsoft.com/office/drawing/2014/main" id="{B7EFB05A-B004-77CA-41F6-212D5C6D615D}"/>
              </a:ext>
            </a:extLst>
          </p:cNvPr>
          <p:cNvSpPr>
            <a:spLocks noGrp="1"/>
          </p:cNvSpPr>
          <p:nvPr>
            <p:ph type="ftr" sz="quarter" idx="11"/>
          </p:nvPr>
        </p:nvSpPr>
        <p:spPr/>
        <p:txBody>
          <a:bodyPr/>
          <a:lstStyle/>
          <a:p>
            <a:r>
              <a:rPr lang="en-US"/>
              <a:t>Slide 9 of 14</a:t>
            </a:r>
          </a:p>
        </p:txBody>
      </p:sp>
      <p:graphicFrame>
        <p:nvGraphicFramePr>
          <p:cNvPr id="5" name="Table 4">
            <a:extLst>
              <a:ext uri="{FF2B5EF4-FFF2-40B4-BE49-F238E27FC236}">
                <a16:creationId xmlns:a16="http://schemas.microsoft.com/office/drawing/2014/main" id="{84CB2E6E-57FB-3FBC-E9B7-D8A82250BA7A}"/>
              </a:ext>
            </a:extLst>
          </p:cNvPr>
          <p:cNvGraphicFramePr>
            <a:graphicFrameLocks noGrp="1"/>
          </p:cNvGraphicFramePr>
          <p:nvPr>
            <p:extLst>
              <p:ext uri="{D42A27DB-BD31-4B8C-83A1-F6EECF244321}">
                <p14:modId xmlns:p14="http://schemas.microsoft.com/office/powerpoint/2010/main" val="1100868427"/>
              </p:ext>
            </p:extLst>
          </p:nvPr>
        </p:nvGraphicFramePr>
        <p:xfrm>
          <a:off x="1028700" y="4235450"/>
          <a:ext cx="9702801" cy="1855470"/>
        </p:xfrm>
        <a:graphic>
          <a:graphicData uri="http://schemas.openxmlformats.org/drawingml/2006/table">
            <a:tbl>
              <a:tblPr firstRow="1" bandRow="1">
                <a:tableStyleId>{5C22544A-7EE6-4342-B048-85BDC9FD1C3A}</a:tableStyleId>
              </a:tblPr>
              <a:tblGrid>
                <a:gridCol w="3234267">
                  <a:extLst>
                    <a:ext uri="{9D8B030D-6E8A-4147-A177-3AD203B41FA5}">
                      <a16:colId xmlns:a16="http://schemas.microsoft.com/office/drawing/2014/main" val="3550470278"/>
                    </a:ext>
                  </a:extLst>
                </a:gridCol>
                <a:gridCol w="3234267">
                  <a:extLst>
                    <a:ext uri="{9D8B030D-6E8A-4147-A177-3AD203B41FA5}">
                      <a16:colId xmlns:a16="http://schemas.microsoft.com/office/drawing/2014/main" val="3725475158"/>
                    </a:ext>
                  </a:extLst>
                </a:gridCol>
                <a:gridCol w="3234267">
                  <a:extLst>
                    <a:ext uri="{9D8B030D-6E8A-4147-A177-3AD203B41FA5}">
                      <a16:colId xmlns:a16="http://schemas.microsoft.com/office/drawing/2014/main" val="711560792"/>
                    </a:ext>
                  </a:extLst>
                </a:gridCol>
              </a:tblGrid>
              <a:tr h="666750">
                <a:tc>
                  <a:txBody>
                    <a:bodyPr/>
                    <a:lstStyle/>
                    <a:p>
                      <a:r>
                        <a:rPr lang="en-US"/>
                        <a:t>Prototype benefits</a:t>
                      </a:r>
                    </a:p>
                  </a:txBody>
                  <a:tcPr/>
                </a:tc>
                <a:tc>
                  <a:txBody>
                    <a:bodyPr/>
                    <a:lstStyle/>
                    <a:p>
                      <a:r>
                        <a:rPr lang="en-US"/>
                        <a:t>Prototype Components</a:t>
                      </a:r>
                    </a:p>
                  </a:txBody>
                  <a:tcPr/>
                </a:tc>
                <a:tc>
                  <a:txBody>
                    <a:bodyPr/>
                    <a:lstStyle/>
                    <a:p>
                      <a:r>
                        <a:rPr lang="en-US"/>
                        <a:t>Features</a:t>
                      </a:r>
                    </a:p>
                  </a:txBody>
                  <a:tcPr/>
                </a:tc>
                <a:extLst>
                  <a:ext uri="{0D108BD9-81ED-4DB2-BD59-A6C34878D82A}">
                    <a16:rowId xmlns:a16="http://schemas.microsoft.com/office/drawing/2014/main" val="774189023"/>
                  </a:ext>
                </a:extLst>
              </a:tr>
              <a:tr h="1092603">
                <a:tc>
                  <a:txBody>
                    <a:bodyPr/>
                    <a:lstStyle/>
                    <a:p>
                      <a:pPr marL="285750" indent="-285750">
                        <a:buFont typeface="Arial" panose="020B0604020202020204" pitchFamily="34" charset="0"/>
                        <a:buChar char="•"/>
                      </a:pPr>
                      <a:r>
                        <a:rPr lang="en-US"/>
                        <a:t>Faster issue detection</a:t>
                      </a:r>
                    </a:p>
                    <a:p>
                      <a:pPr marL="285750" indent="-285750">
                        <a:buFont typeface="Arial" panose="020B0604020202020204" pitchFamily="34" charset="0"/>
                        <a:buChar char="•"/>
                      </a:pPr>
                      <a:r>
                        <a:rPr lang="en-US"/>
                        <a:t>Unified Observability</a:t>
                      </a:r>
                    </a:p>
                    <a:p>
                      <a:pPr marL="285750" indent="-285750">
                        <a:buFont typeface="Arial" panose="020B0604020202020204" pitchFamily="34" charset="0"/>
                        <a:buChar char="•"/>
                      </a:pPr>
                      <a:r>
                        <a:rPr lang="en-US"/>
                        <a:t>Scalability for cloud analytics</a:t>
                      </a:r>
                    </a:p>
                  </a:txBody>
                  <a:tcPr/>
                </a:tc>
                <a:tc>
                  <a:txBody>
                    <a:bodyPr/>
                    <a:lstStyle/>
                    <a:p>
                      <a:pPr marL="285750" indent="-285750">
                        <a:buFont typeface="Arial" panose="020B0604020202020204" pitchFamily="34" charset="0"/>
                        <a:buChar char="•"/>
                      </a:pPr>
                      <a:r>
                        <a:rPr lang="en-US"/>
                        <a:t>Grafana for visualization of metrics, logs and traces</a:t>
                      </a:r>
                    </a:p>
                    <a:p>
                      <a:pPr marL="285750" indent="-285750">
                        <a:buFont typeface="Arial" panose="020B0604020202020204" pitchFamily="34" charset="0"/>
                        <a:buChar char="•"/>
                      </a:pPr>
                      <a:r>
                        <a:rPr lang="en-US"/>
                        <a:t>OTEL collector for data export</a:t>
                      </a:r>
                    </a:p>
                  </a:txBody>
                  <a:tcPr/>
                </a:tc>
                <a:tc>
                  <a:txBody>
                    <a:bodyPr/>
                    <a:lstStyle/>
                    <a:p>
                      <a:pPr marL="285750" indent="-285750">
                        <a:buFont typeface="Arial" panose="020B0604020202020204" pitchFamily="34" charset="0"/>
                        <a:buChar char="•"/>
                      </a:pPr>
                      <a:r>
                        <a:rPr lang="en-US"/>
                        <a:t>Real time dashboard </a:t>
                      </a:r>
                    </a:p>
                    <a:p>
                      <a:pPr marL="285750" indent="-285750">
                        <a:buFont typeface="Arial" panose="020B0604020202020204" pitchFamily="34" charset="0"/>
                        <a:buChar char="•"/>
                      </a:pPr>
                      <a:r>
                        <a:rPr lang="en-US"/>
                        <a:t>Alert integration for latency and error spikes</a:t>
                      </a:r>
                    </a:p>
                  </a:txBody>
                  <a:tcPr/>
                </a:tc>
                <a:extLst>
                  <a:ext uri="{0D108BD9-81ED-4DB2-BD59-A6C34878D82A}">
                    <a16:rowId xmlns:a16="http://schemas.microsoft.com/office/drawing/2014/main" val="2475398020"/>
                  </a:ext>
                </a:extLst>
              </a:tr>
            </a:tbl>
          </a:graphicData>
        </a:graphic>
      </p:graphicFrame>
    </p:spTree>
    <p:extLst>
      <p:ext uri="{BB962C8B-B14F-4D97-AF65-F5344CB8AC3E}">
        <p14:creationId xmlns:p14="http://schemas.microsoft.com/office/powerpoint/2010/main" val="772244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701CC-C0E9-A7BB-C90E-45A436CCE142}"/>
              </a:ext>
            </a:extLst>
          </p:cNvPr>
          <p:cNvSpPr>
            <a:spLocks noGrp="1"/>
          </p:cNvSpPr>
          <p:nvPr>
            <p:ph type="title"/>
          </p:nvPr>
        </p:nvSpPr>
        <p:spPr>
          <a:xfrm>
            <a:off x="1028700" y="723901"/>
            <a:ext cx="10134600" cy="723900"/>
          </a:xfrm>
        </p:spPr>
        <p:txBody>
          <a:bodyPr/>
          <a:lstStyle/>
          <a:p>
            <a:r>
              <a:rPr lang="en-US"/>
              <a:t>Milestone Assessment [Final System]</a:t>
            </a:r>
          </a:p>
        </p:txBody>
      </p:sp>
      <p:sp>
        <p:nvSpPr>
          <p:cNvPr id="3" name="Content Placeholder 2">
            <a:extLst>
              <a:ext uri="{FF2B5EF4-FFF2-40B4-BE49-F238E27FC236}">
                <a16:creationId xmlns:a16="http://schemas.microsoft.com/office/drawing/2014/main" id="{BD6BCC6F-7D4D-BD89-CC8A-912D4FB2BD94}"/>
              </a:ext>
            </a:extLst>
          </p:cNvPr>
          <p:cNvSpPr>
            <a:spLocks noGrp="1"/>
          </p:cNvSpPr>
          <p:nvPr>
            <p:ph idx="1"/>
          </p:nvPr>
        </p:nvSpPr>
        <p:spPr>
          <a:xfrm>
            <a:off x="1028700" y="1628503"/>
            <a:ext cx="10134600" cy="4616530"/>
          </a:xfrm>
        </p:spPr>
        <p:txBody>
          <a:bodyPr/>
          <a:lstStyle/>
          <a:p>
            <a:pPr marL="342900" indent="-342900">
              <a:buFont typeface="Arial" panose="020B0604020202020204" pitchFamily="34" charset="0"/>
              <a:buChar char="•"/>
            </a:pPr>
            <a:r>
              <a:rPr lang="en-US"/>
              <a:t>The Final system runs simultaneously with the frontend shopping site and also displays real-time run errors if one was to occur. </a:t>
            </a:r>
          </a:p>
          <a:p>
            <a:pPr marL="342900" indent="-342900">
              <a:buFont typeface="Arial" panose="020B0604020202020204" pitchFamily="34" charset="0"/>
              <a:buChar char="•"/>
            </a:pPr>
            <a:r>
              <a:rPr lang="en-US"/>
              <a:t>The system is designed to show log errors from </a:t>
            </a:r>
            <a:r>
              <a:rPr lang="en-US" err="1"/>
              <a:t>Elastisearch</a:t>
            </a:r>
            <a:r>
              <a:rPr lang="en-US"/>
              <a:t> and give useful metrics!</a:t>
            </a:r>
          </a:p>
          <a:p>
            <a:pPr marL="342900" indent="-342900">
              <a:buFont typeface="Arial" panose="020B0604020202020204" pitchFamily="34" charset="0"/>
              <a:buChar char="•"/>
            </a:pPr>
            <a:r>
              <a:rPr lang="en-US"/>
              <a:t>Displays Time Logs, Error Rate over time, Active HTTP Requests, Error and Warning Logs, Logs. </a:t>
            </a:r>
          </a:p>
          <a:p>
            <a:endParaRPr lang="en-US"/>
          </a:p>
        </p:txBody>
      </p:sp>
      <p:sp>
        <p:nvSpPr>
          <p:cNvPr id="4" name="Footer Placeholder 3">
            <a:extLst>
              <a:ext uri="{FF2B5EF4-FFF2-40B4-BE49-F238E27FC236}">
                <a16:creationId xmlns:a16="http://schemas.microsoft.com/office/drawing/2014/main" id="{EE3E6C70-EED2-9F55-229B-15F21B097662}"/>
              </a:ext>
            </a:extLst>
          </p:cNvPr>
          <p:cNvSpPr>
            <a:spLocks noGrp="1"/>
          </p:cNvSpPr>
          <p:nvPr>
            <p:ph type="ftr" sz="quarter" idx="11"/>
          </p:nvPr>
        </p:nvSpPr>
        <p:spPr/>
        <p:txBody>
          <a:bodyPr/>
          <a:lstStyle/>
          <a:p>
            <a:r>
              <a:rPr lang="en-US"/>
              <a:t>Slide 10 of 14</a:t>
            </a:r>
          </a:p>
        </p:txBody>
      </p:sp>
    </p:spTree>
    <p:extLst>
      <p:ext uri="{BB962C8B-B14F-4D97-AF65-F5344CB8AC3E}">
        <p14:creationId xmlns:p14="http://schemas.microsoft.com/office/powerpoint/2010/main" val="1421983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A80D8-B356-D45E-0796-E37A4968F964}"/>
              </a:ext>
            </a:extLst>
          </p:cNvPr>
          <p:cNvSpPr>
            <a:spLocks noGrp="1"/>
          </p:cNvSpPr>
          <p:nvPr>
            <p:ph type="title"/>
          </p:nvPr>
        </p:nvSpPr>
        <p:spPr>
          <a:xfrm>
            <a:off x="1028700" y="723901"/>
            <a:ext cx="10134600" cy="628650"/>
          </a:xfrm>
        </p:spPr>
        <p:txBody>
          <a:bodyPr/>
          <a:lstStyle/>
          <a:p>
            <a:r>
              <a:rPr lang="en-US"/>
              <a:t>Team Member Contributions</a:t>
            </a:r>
          </a:p>
        </p:txBody>
      </p:sp>
      <p:graphicFrame>
        <p:nvGraphicFramePr>
          <p:cNvPr id="5" name="Content Placeholder 4">
            <a:extLst>
              <a:ext uri="{FF2B5EF4-FFF2-40B4-BE49-F238E27FC236}">
                <a16:creationId xmlns:a16="http://schemas.microsoft.com/office/drawing/2014/main" id="{43029D6D-6F3B-13E9-440B-F0703E79B678}"/>
              </a:ext>
            </a:extLst>
          </p:cNvPr>
          <p:cNvGraphicFramePr>
            <a:graphicFrameLocks noGrp="1"/>
          </p:cNvGraphicFramePr>
          <p:nvPr>
            <p:ph idx="1"/>
            <p:extLst>
              <p:ext uri="{D42A27DB-BD31-4B8C-83A1-F6EECF244321}">
                <p14:modId xmlns:p14="http://schemas.microsoft.com/office/powerpoint/2010/main" val="2754295358"/>
              </p:ext>
            </p:extLst>
          </p:nvPr>
        </p:nvGraphicFramePr>
        <p:xfrm>
          <a:off x="565150" y="1447802"/>
          <a:ext cx="11163300" cy="5083098"/>
        </p:xfrm>
        <a:graphic>
          <a:graphicData uri="http://schemas.openxmlformats.org/drawingml/2006/table">
            <a:tbl>
              <a:tblPr firstRow="1" bandRow="1">
                <a:tableStyleId>{5C22544A-7EE6-4342-B048-85BDC9FD1C3A}</a:tableStyleId>
              </a:tblPr>
              <a:tblGrid>
                <a:gridCol w="2894557">
                  <a:extLst>
                    <a:ext uri="{9D8B030D-6E8A-4147-A177-3AD203B41FA5}">
                      <a16:colId xmlns:a16="http://schemas.microsoft.com/office/drawing/2014/main" val="3221721705"/>
                    </a:ext>
                  </a:extLst>
                </a:gridCol>
                <a:gridCol w="8268743">
                  <a:extLst>
                    <a:ext uri="{9D8B030D-6E8A-4147-A177-3AD203B41FA5}">
                      <a16:colId xmlns:a16="http://schemas.microsoft.com/office/drawing/2014/main" val="2285877071"/>
                    </a:ext>
                  </a:extLst>
                </a:gridCol>
              </a:tblGrid>
              <a:tr h="619119">
                <a:tc>
                  <a:txBody>
                    <a:bodyPr/>
                    <a:lstStyle/>
                    <a:p>
                      <a:r>
                        <a:rPr lang="en-US"/>
                        <a:t>Team Member</a:t>
                      </a:r>
                    </a:p>
                  </a:txBody>
                  <a:tcPr/>
                </a:tc>
                <a:tc>
                  <a:txBody>
                    <a:bodyPr/>
                    <a:lstStyle/>
                    <a:p>
                      <a:r>
                        <a:rPr lang="en-US"/>
                        <a:t>Contributions</a:t>
                      </a:r>
                    </a:p>
                  </a:txBody>
                  <a:tcPr/>
                </a:tc>
                <a:extLst>
                  <a:ext uri="{0D108BD9-81ED-4DB2-BD59-A6C34878D82A}">
                    <a16:rowId xmlns:a16="http://schemas.microsoft.com/office/drawing/2014/main" val="3003394333"/>
                  </a:ext>
                </a:extLst>
              </a:tr>
              <a:tr h="822418">
                <a:tc>
                  <a:txBody>
                    <a:bodyPr/>
                    <a:lstStyle/>
                    <a:p>
                      <a:r>
                        <a:rPr lang="en-US"/>
                        <a:t>Kian Rezaeinejad (Team Lead)</a:t>
                      </a:r>
                    </a:p>
                  </a:txBody>
                  <a:tcPr/>
                </a:tc>
                <a:tc>
                  <a:txBody>
                    <a:bodyPr/>
                    <a:lstStyle/>
                    <a:p>
                      <a:r>
                        <a:rPr lang="en-US" sz="1400"/>
                        <a:t>Helped in creating the Project’s Plan and defining the requirements, helped in weekly log contributions, created research papers for the milestone. Helped organize meetings and set up a communication pipeline amongst the team. Helped with testing the prototype and test the compiling of the program local. Helped with creating panels for the final dashboard.</a:t>
                      </a:r>
                    </a:p>
                  </a:txBody>
                  <a:tcPr/>
                </a:tc>
                <a:extLst>
                  <a:ext uri="{0D108BD9-81ED-4DB2-BD59-A6C34878D82A}">
                    <a16:rowId xmlns:a16="http://schemas.microsoft.com/office/drawing/2014/main" val="684697984"/>
                  </a:ext>
                </a:extLst>
              </a:tr>
              <a:tr h="619119">
                <a:tc>
                  <a:txBody>
                    <a:bodyPr/>
                    <a:lstStyle/>
                    <a:p>
                      <a:r>
                        <a:rPr lang="en-US"/>
                        <a:t>Jaytin Bolling</a:t>
                      </a:r>
                    </a:p>
                  </a:txBody>
                  <a:tcPr/>
                </a:tc>
                <a:tc>
                  <a:txBody>
                    <a:bodyPr/>
                    <a:lstStyle/>
                    <a:p>
                      <a:r>
                        <a:rPr lang="en-US" sz="1400"/>
                        <a:t>Helped in creating the project’s plan and defining the requirements, aided in weekly log contributions, helped with the research papers and getting them to the library for review, and aided in creation of Milestone PowerPoints, helped with creating panels in the final dashboard. </a:t>
                      </a:r>
                    </a:p>
                  </a:txBody>
                  <a:tcPr/>
                </a:tc>
                <a:extLst>
                  <a:ext uri="{0D108BD9-81ED-4DB2-BD59-A6C34878D82A}">
                    <a16:rowId xmlns:a16="http://schemas.microsoft.com/office/drawing/2014/main" val="313932457"/>
                  </a:ext>
                </a:extLst>
              </a:tr>
              <a:tr h="1320596">
                <a:tc>
                  <a:txBody>
                    <a:bodyPr/>
                    <a:lstStyle/>
                    <a:p>
                      <a:r>
                        <a:rPr lang="en-US"/>
                        <a:t>Daniel Ekema</a:t>
                      </a:r>
                    </a:p>
                  </a:txBody>
                  <a:tcPr/>
                </a:tc>
                <a:tc>
                  <a:txBody>
                    <a:bodyPr/>
                    <a:lstStyle/>
                    <a:p>
                      <a:r>
                        <a:rPr lang="en-US" sz="1400"/>
                        <a:t>Helped define the Project, Updated projects requirements to further stay within project scope, aided in weekly logs, designed the Figma design and helped in fitting the design to the prototype, helped start the backend and frontend connections through docker and further expanded from local hosting to the server. Discovered both frontend UI. Started the Grafana Dashboard and started the Dashboard and created panels for the final dashboard. Created multiple connections for personal connections for each team member to connect to Grafana through their user on the server.</a:t>
                      </a:r>
                    </a:p>
                  </a:txBody>
                  <a:tcPr/>
                </a:tc>
                <a:extLst>
                  <a:ext uri="{0D108BD9-81ED-4DB2-BD59-A6C34878D82A}">
                    <a16:rowId xmlns:a16="http://schemas.microsoft.com/office/drawing/2014/main" val="1328454546"/>
                  </a:ext>
                </a:extLst>
              </a:tr>
              <a:tr h="1415979">
                <a:tc>
                  <a:txBody>
                    <a:bodyPr/>
                    <a:lstStyle/>
                    <a:p>
                      <a:r>
                        <a:rPr lang="en-US"/>
                        <a:t>Dakobie Garcia</a:t>
                      </a:r>
                    </a:p>
                  </a:txBody>
                  <a:tcPr/>
                </a:tc>
                <a:tc>
                  <a:txBody>
                    <a:bodyPr/>
                    <a:lstStyle/>
                    <a:p>
                      <a:r>
                        <a:rPr lang="en-US" sz="1400"/>
                        <a:t>Helped expand the projects plan, Updated the plans to better fit within the project scopes, aided in weekly logs, helped arranged meetings, reiterated the MS project to better fulfill the correct deliverables, helped initialize docker locally and researched about Grafana JSON files, Helped in connecting Grafana to the OTEL collector, helped in testing the connection to the server and links to each frontend, created some panels to the final dashboard. </a:t>
                      </a:r>
                    </a:p>
                  </a:txBody>
                  <a:tcPr/>
                </a:tc>
                <a:extLst>
                  <a:ext uri="{0D108BD9-81ED-4DB2-BD59-A6C34878D82A}">
                    <a16:rowId xmlns:a16="http://schemas.microsoft.com/office/drawing/2014/main" val="2592417944"/>
                  </a:ext>
                </a:extLst>
              </a:tr>
            </a:tbl>
          </a:graphicData>
        </a:graphic>
      </p:graphicFrame>
      <p:sp>
        <p:nvSpPr>
          <p:cNvPr id="4" name="Footer Placeholder 3">
            <a:extLst>
              <a:ext uri="{FF2B5EF4-FFF2-40B4-BE49-F238E27FC236}">
                <a16:creationId xmlns:a16="http://schemas.microsoft.com/office/drawing/2014/main" id="{A554E04F-D88D-5A55-7DE2-ACD1EA0E715C}"/>
              </a:ext>
            </a:extLst>
          </p:cNvPr>
          <p:cNvSpPr>
            <a:spLocks noGrp="1"/>
          </p:cNvSpPr>
          <p:nvPr>
            <p:ph type="ftr" sz="quarter" idx="11"/>
          </p:nvPr>
        </p:nvSpPr>
        <p:spPr/>
        <p:txBody>
          <a:bodyPr/>
          <a:lstStyle/>
          <a:p>
            <a:r>
              <a:rPr lang="en-US"/>
              <a:t>Slide 11 of 14</a:t>
            </a:r>
          </a:p>
        </p:txBody>
      </p:sp>
    </p:spTree>
    <p:extLst>
      <p:ext uri="{BB962C8B-B14F-4D97-AF65-F5344CB8AC3E}">
        <p14:creationId xmlns:p14="http://schemas.microsoft.com/office/powerpoint/2010/main" val="4230546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7E815-AA4A-E0AA-A2E0-DDF768947BFF}"/>
              </a:ext>
            </a:extLst>
          </p:cNvPr>
          <p:cNvSpPr>
            <a:spLocks noGrp="1"/>
          </p:cNvSpPr>
          <p:nvPr>
            <p:ph type="title"/>
          </p:nvPr>
        </p:nvSpPr>
        <p:spPr/>
        <p:txBody>
          <a:bodyPr/>
          <a:lstStyle/>
          <a:p>
            <a:r>
              <a:rPr lang="en-US"/>
              <a:t>Experiences/Challenges</a:t>
            </a:r>
          </a:p>
        </p:txBody>
      </p:sp>
      <p:sp>
        <p:nvSpPr>
          <p:cNvPr id="3" name="Content Placeholder 2">
            <a:extLst>
              <a:ext uri="{FF2B5EF4-FFF2-40B4-BE49-F238E27FC236}">
                <a16:creationId xmlns:a16="http://schemas.microsoft.com/office/drawing/2014/main" id="{7CD5D8CB-A9C5-8325-FB88-813E3F6250A5}"/>
              </a:ext>
            </a:extLst>
          </p:cNvPr>
          <p:cNvSpPr>
            <a:spLocks noGrp="1"/>
          </p:cNvSpPr>
          <p:nvPr>
            <p:ph idx="1"/>
          </p:nvPr>
        </p:nvSpPr>
        <p:spPr/>
        <p:txBody>
          <a:bodyPr>
            <a:normAutofit lnSpcReduction="10000"/>
          </a:bodyPr>
          <a:lstStyle/>
          <a:p>
            <a:r>
              <a:rPr lang="en-US"/>
              <a:t>Challenges:</a:t>
            </a:r>
          </a:p>
          <a:p>
            <a:pPr marL="342900" indent="-342900">
              <a:buFont typeface="Arial" panose="020B0604020202020204" pitchFamily="34" charset="0"/>
              <a:buChar char="•"/>
            </a:pPr>
            <a:r>
              <a:rPr lang="en-US"/>
              <a:t>understanding how to host Grafana to the server.</a:t>
            </a:r>
          </a:p>
          <a:p>
            <a:pPr marL="342900" indent="-342900">
              <a:buFont typeface="Arial" panose="020B0604020202020204" pitchFamily="34" charset="0"/>
              <a:buChar char="•"/>
            </a:pPr>
            <a:r>
              <a:rPr lang="en-US"/>
              <a:t>understanding how JSON files worked and how we would be utilizing them.</a:t>
            </a:r>
          </a:p>
          <a:p>
            <a:pPr marL="342900" indent="-342900">
              <a:buFont typeface="Arial" panose="020B0604020202020204" pitchFamily="34" charset="0"/>
              <a:buChar char="•"/>
            </a:pPr>
            <a:r>
              <a:rPr lang="en-US"/>
              <a:t>Creating panels for the dashboard that satisfied the projects scope. </a:t>
            </a:r>
          </a:p>
          <a:p>
            <a:r>
              <a:rPr lang="en-US"/>
              <a:t>Experiences:</a:t>
            </a:r>
          </a:p>
          <a:p>
            <a:pPr marL="342900" indent="-342900">
              <a:buFont typeface="Arial" panose="020B0604020202020204" pitchFamily="34" charset="0"/>
              <a:buChar char="•"/>
            </a:pPr>
            <a:r>
              <a:rPr lang="en-US"/>
              <a:t>With the project in general, sticking to the project’s timeline and more relying on being told next directives instead of expanding on ideas with each other and failing to communicating these ideas early. </a:t>
            </a:r>
          </a:p>
          <a:p>
            <a:pPr marL="342900" indent="-342900">
              <a:buFont typeface="Arial" panose="020B0604020202020204" pitchFamily="34" charset="0"/>
              <a:buChar char="•"/>
            </a:pPr>
            <a:r>
              <a:rPr lang="en-US"/>
              <a:t>Vulnerabilities to being ignorant to something new, rather than asking critical questions to further understanding the project. </a:t>
            </a:r>
          </a:p>
        </p:txBody>
      </p:sp>
      <p:sp>
        <p:nvSpPr>
          <p:cNvPr id="4" name="Footer Placeholder 3">
            <a:extLst>
              <a:ext uri="{FF2B5EF4-FFF2-40B4-BE49-F238E27FC236}">
                <a16:creationId xmlns:a16="http://schemas.microsoft.com/office/drawing/2014/main" id="{25D1DD8B-9BCC-E651-FC34-BFFF6DDB0A3C}"/>
              </a:ext>
            </a:extLst>
          </p:cNvPr>
          <p:cNvSpPr>
            <a:spLocks noGrp="1"/>
          </p:cNvSpPr>
          <p:nvPr>
            <p:ph type="ftr" sz="quarter" idx="11"/>
          </p:nvPr>
        </p:nvSpPr>
        <p:spPr/>
        <p:txBody>
          <a:bodyPr/>
          <a:lstStyle/>
          <a:p>
            <a:r>
              <a:rPr lang="en-US"/>
              <a:t>Slide 12 of 14</a:t>
            </a:r>
          </a:p>
        </p:txBody>
      </p:sp>
    </p:spTree>
    <p:extLst>
      <p:ext uri="{BB962C8B-B14F-4D97-AF65-F5344CB8AC3E}">
        <p14:creationId xmlns:p14="http://schemas.microsoft.com/office/powerpoint/2010/main" val="825901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8414E-95AD-430C-8484-3703407EAAD8}"/>
              </a:ext>
            </a:extLst>
          </p:cNvPr>
          <p:cNvSpPr>
            <a:spLocks noGrp="1"/>
          </p:cNvSpPr>
          <p:nvPr>
            <p:ph type="title"/>
          </p:nvPr>
        </p:nvSpPr>
        <p:spPr>
          <a:xfrm>
            <a:off x="1028700" y="723901"/>
            <a:ext cx="10134600" cy="524870"/>
          </a:xfrm>
        </p:spPr>
        <p:txBody>
          <a:bodyPr>
            <a:normAutofit fontScale="90000"/>
          </a:bodyPr>
          <a:lstStyle/>
          <a:p>
            <a:r>
              <a:rPr lang="en-US"/>
              <a:t>Gannt Chart</a:t>
            </a:r>
          </a:p>
        </p:txBody>
      </p:sp>
      <p:sp>
        <p:nvSpPr>
          <p:cNvPr id="4" name="Footer Placeholder 3">
            <a:extLst>
              <a:ext uri="{FF2B5EF4-FFF2-40B4-BE49-F238E27FC236}">
                <a16:creationId xmlns:a16="http://schemas.microsoft.com/office/drawing/2014/main" id="{57CDAA3F-5C2A-05E0-708F-A178FD12EB75}"/>
              </a:ext>
            </a:extLst>
          </p:cNvPr>
          <p:cNvSpPr>
            <a:spLocks noGrp="1"/>
          </p:cNvSpPr>
          <p:nvPr>
            <p:ph type="ftr" sz="quarter" idx="11"/>
          </p:nvPr>
        </p:nvSpPr>
        <p:spPr/>
        <p:txBody>
          <a:bodyPr/>
          <a:lstStyle/>
          <a:p>
            <a:r>
              <a:rPr lang="en-US"/>
              <a:t>Slide 13 of 14</a:t>
            </a:r>
          </a:p>
        </p:txBody>
      </p:sp>
      <p:pic>
        <p:nvPicPr>
          <p:cNvPr id="14" name="Content Placeholder 13">
            <a:extLst>
              <a:ext uri="{FF2B5EF4-FFF2-40B4-BE49-F238E27FC236}">
                <a16:creationId xmlns:a16="http://schemas.microsoft.com/office/drawing/2014/main" id="{7A0A1D0C-8B69-748E-AAA8-FF3AF7F788C1}"/>
              </a:ext>
            </a:extLst>
          </p:cNvPr>
          <p:cNvPicPr>
            <a:picLocks noGrp="1" noChangeAspect="1"/>
          </p:cNvPicPr>
          <p:nvPr>
            <p:ph idx="1"/>
          </p:nvPr>
        </p:nvPicPr>
        <p:blipFill>
          <a:blip r:embed="rId2"/>
          <a:stretch>
            <a:fillRect/>
          </a:stretch>
        </p:blipFill>
        <p:spPr>
          <a:xfrm>
            <a:off x="346312" y="1579792"/>
            <a:ext cx="11309556" cy="3961199"/>
          </a:xfrm>
          <a:prstGeom prst="rect">
            <a:avLst/>
          </a:prstGeom>
        </p:spPr>
      </p:pic>
    </p:spTree>
    <p:extLst>
      <p:ext uri="{BB962C8B-B14F-4D97-AF65-F5344CB8AC3E}">
        <p14:creationId xmlns:p14="http://schemas.microsoft.com/office/powerpoint/2010/main" val="2792582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5E361-59B7-DABC-72E9-B1E17D9A4DB2}"/>
              </a:ext>
            </a:extLst>
          </p:cNvPr>
          <p:cNvSpPr>
            <a:spLocks noGrp="1"/>
          </p:cNvSpPr>
          <p:nvPr>
            <p:ph type="title"/>
          </p:nvPr>
        </p:nvSpPr>
        <p:spPr>
          <a:xfrm>
            <a:off x="1028700" y="723900"/>
            <a:ext cx="10134600" cy="456631"/>
          </a:xfrm>
        </p:spPr>
        <p:txBody>
          <a:bodyPr>
            <a:normAutofit fontScale="90000"/>
          </a:bodyPr>
          <a:lstStyle/>
          <a:p>
            <a:r>
              <a:rPr lang="en-US"/>
              <a:t>Resource Overview</a:t>
            </a:r>
          </a:p>
        </p:txBody>
      </p:sp>
      <p:sp>
        <p:nvSpPr>
          <p:cNvPr id="4" name="Footer Placeholder 3">
            <a:extLst>
              <a:ext uri="{FF2B5EF4-FFF2-40B4-BE49-F238E27FC236}">
                <a16:creationId xmlns:a16="http://schemas.microsoft.com/office/drawing/2014/main" id="{DBFD4D43-13B7-7299-E91B-A24959112C0B}"/>
              </a:ext>
            </a:extLst>
          </p:cNvPr>
          <p:cNvSpPr>
            <a:spLocks noGrp="1"/>
          </p:cNvSpPr>
          <p:nvPr>
            <p:ph type="ftr" sz="quarter" idx="11"/>
          </p:nvPr>
        </p:nvSpPr>
        <p:spPr/>
        <p:txBody>
          <a:bodyPr/>
          <a:lstStyle/>
          <a:p>
            <a:r>
              <a:rPr lang="en-US"/>
              <a:t>Slide 14 of 14</a:t>
            </a:r>
          </a:p>
        </p:txBody>
      </p:sp>
      <p:sp>
        <p:nvSpPr>
          <p:cNvPr id="8" name="Content Placeholder 7">
            <a:extLst>
              <a:ext uri="{FF2B5EF4-FFF2-40B4-BE49-F238E27FC236}">
                <a16:creationId xmlns:a16="http://schemas.microsoft.com/office/drawing/2014/main" id="{E8A938A7-7F7A-3121-858B-EABA80F116AD}"/>
              </a:ext>
            </a:extLst>
          </p:cNvPr>
          <p:cNvSpPr>
            <a:spLocks noGrp="1"/>
          </p:cNvSpPr>
          <p:nvPr>
            <p:ph idx="1"/>
          </p:nvPr>
        </p:nvSpPr>
        <p:spPr/>
        <p:txBody>
          <a:bodyPr/>
          <a:lstStyle/>
          <a:p>
            <a:endParaRPr lang="en-US"/>
          </a:p>
        </p:txBody>
      </p:sp>
      <p:pic>
        <p:nvPicPr>
          <p:cNvPr id="11" name="Picture 10">
            <a:extLst>
              <a:ext uri="{FF2B5EF4-FFF2-40B4-BE49-F238E27FC236}">
                <a16:creationId xmlns:a16="http://schemas.microsoft.com/office/drawing/2014/main" id="{90662707-D6E0-42C9-E1FA-B91D4E5CFC0E}"/>
              </a:ext>
            </a:extLst>
          </p:cNvPr>
          <p:cNvPicPr>
            <a:picLocks noChangeAspect="1"/>
          </p:cNvPicPr>
          <p:nvPr/>
        </p:nvPicPr>
        <p:blipFill>
          <a:blip r:embed="rId2"/>
          <a:stretch>
            <a:fillRect/>
          </a:stretch>
        </p:blipFill>
        <p:spPr>
          <a:xfrm>
            <a:off x="2224584" y="1294319"/>
            <a:ext cx="7847463" cy="5141441"/>
          </a:xfrm>
          <a:prstGeom prst="rect">
            <a:avLst/>
          </a:prstGeom>
        </p:spPr>
      </p:pic>
    </p:spTree>
    <p:extLst>
      <p:ext uri="{BB962C8B-B14F-4D97-AF65-F5344CB8AC3E}">
        <p14:creationId xmlns:p14="http://schemas.microsoft.com/office/powerpoint/2010/main" val="682343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D3B3C7E-BC2D-4436-8B03-AC421FA667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79B5D0C1-066E-4C02-A6B8-59FAE4A197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4240546"/>
            <a:ext cx="867485" cy="115439"/>
            <a:chOff x="8910933" y="1861308"/>
            <a:chExt cx="867485" cy="115439"/>
          </a:xfrm>
        </p:grpSpPr>
        <p:sp>
          <p:nvSpPr>
            <p:cNvPr id="12" name="Rectangle 11">
              <a:extLst>
                <a:ext uri="{FF2B5EF4-FFF2-40B4-BE49-F238E27FC236}">
                  <a16:creationId xmlns:a16="http://schemas.microsoft.com/office/drawing/2014/main" id="{D4386904-AFDC-449E-8D1B-906B305EBD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13" name="Straight Connector 12">
              <a:extLst>
                <a:ext uri="{FF2B5EF4-FFF2-40B4-BE49-F238E27FC236}">
                  <a16:creationId xmlns:a16="http://schemas.microsoft.com/office/drawing/2014/main" id="{F70778F2-11E8-428C-8324-479CA9D6FE9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0BE89E-CB2D-48BA-A8D2-533FAAAA725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useBgFill="1">
        <p:nvSpPr>
          <p:cNvPr id="16" name="Rectangle 15">
            <a:extLst>
              <a:ext uri="{FF2B5EF4-FFF2-40B4-BE49-F238E27FC236}">
                <a16:creationId xmlns:a16="http://schemas.microsoft.com/office/drawing/2014/main" id="{4905C695-F54E-4EF8-8AEF-811D460E7A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85CD2A3-2099-476E-9A85-55DC735FA2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20" y="15902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0EE70D-6903-5810-C221-04DFA1C0DFF6}"/>
              </a:ext>
            </a:extLst>
          </p:cNvPr>
          <p:cNvSpPr>
            <a:spLocks noGrp="1"/>
          </p:cNvSpPr>
          <p:nvPr>
            <p:ph type="title"/>
          </p:nvPr>
        </p:nvSpPr>
        <p:spPr>
          <a:xfrm>
            <a:off x="2428461" y="1230924"/>
            <a:ext cx="7335079" cy="1969476"/>
          </a:xfrm>
        </p:spPr>
        <p:txBody>
          <a:bodyPr vert="horz" lIns="91440" tIns="45720" rIns="91440" bIns="45720" rtlCol="0" anchor="b">
            <a:normAutofit/>
          </a:bodyPr>
          <a:lstStyle/>
          <a:p>
            <a:pPr algn="ctr"/>
            <a:r>
              <a:rPr lang="en-US" sz="4000" kern="1200" cap="all" spc="390" baseline="0">
                <a:solidFill>
                  <a:schemeClr val="tx2"/>
                </a:solidFill>
                <a:latin typeface="+mj-lt"/>
                <a:ea typeface="+mj-ea"/>
                <a:cs typeface="+mj-cs"/>
              </a:rPr>
              <a:t>Questions/ Concerns/ Feedback?</a:t>
            </a:r>
          </a:p>
        </p:txBody>
      </p:sp>
      <p:sp>
        <p:nvSpPr>
          <p:cNvPr id="3" name="Content Placeholder 2">
            <a:extLst>
              <a:ext uri="{FF2B5EF4-FFF2-40B4-BE49-F238E27FC236}">
                <a16:creationId xmlns:a16="http://schemas.microsoft.com/office/drawing/2014/main" id="{378C1076-99F6-8744-AC10-7633DA8E0952}"/>
              </a:ext>
            </a:extLst>
          </p:cNvPr>
          <p:cNvSpPr>
            <a:spLocks noGrp="1"/>
          </p:cNvSpPr>
          <p:nvPr>
            <p:ph idx="1"/>
          </p:nvPr>
        </p:nvSpPr>
        <p:spPr>
          <a:xfrm>
            <a:off x="2024881" y="4736387"/>
            <a:ext cx="8142238" cy="1160981"/>
          </a:xfrm>
        </p:spPr>
        <p:txBody>
          <a:bodyPr vert="horz" lIns="91440" tIns="45720" rIns="91440" bIns="45720" rtlCol="0" anchor="t">
            <a:normAutofit/>
          </a:bodyPr>
          <a:lstStyle/>
          <a:p>
            <a:pPr algn="ctr">
              <a:lnSpc>
                <a:spcPct val="100000"/>
              </a:lnSpc>
            </a:pPr>
            <a:r>
              <a:rPr lang="en-US"/>
              <a:t>Thankyou for tuning in to the Milestone</a:t>
            </a:r>
          </a:p>
        </p:txBody>
      </p:sp>
      <p:sp>
        <p:nvSpPr>
          <p:cNvPr id="4" name="Footer Placeholder 3">
            <a:extLst>
              <a:ext uri="{FF2B5EF4-FFF2-40B4-BE49-F238E27FC236}">
                <a16:creationId xmlns:a16="http://schemas.microsoft.com/office/drawing/2014/main" id="{1F485B79-993B-2689-AFB7-83D73E5C444C}"/>
              </a:ext>
            </a:extLst>
          </p:cNvPr>
          <p:cNvSpPr>
            <a:spLocks noGrp="1"/>
          </p:cNvSpPr>
          <p:nvPr>
            <p:ph type="ftr" sz="quarter" idx="11"/>
          </p:nvPr>
        </p:nvSpPr>
        <p:spPr>
          <a:xfrm>
            <a:off x="7279965" y="6245352"/>
            <a:ext cx="4114800" cy="365125"/>
          </a:xfrm>
        </p:spPr>
        <p:txBody>
          <a:bodyPr vert="horz" lIns="91440" tIns="45720" rIns="91440" bIns="45720" rtlCol="0" anchor="ctr">
            <a:normAutofit/>
          </a:bodyPr>
          <a:lstStyle/>
          <a:p>
            <a:pPr>
              <a:spcAft>
                <a:spcPts val="600"/>
              </a:spcAft>
            </a:pPr>
            <a:r>
              <a:rPr lang="en-US" kern="1200">
                <a:solidFill>
                  <a:schemeClr val="tx2"/>
                </a:solidFill>
                <a:latin typeface="+mn-lt"/>
                <a:ea typeface="+mn-ea"/>
                <a:cs typeface="+mn-cs"/>
              </a:rPr>
              <a:t>Slide 4 of 14</a:t>
            </a:r>
          </a:p>
        </p:txBody>
      </p:sp>
      <p:grpSp>
        <p:nvGrpSpPr>
          <p:cNvPr id="20" name="Group 19">
            <a:extLst>
              <a:ext uri="{FF2B5EF4-FFF2-40B4-BE49-F238E27FC236}">
                <a16:creationId xmlns:a16="http://schemas.microsoft.com/office/drawing/2014/main" id="{E92979E8-2E86-433E-A7E4-5F102E45A8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3889173"/>
            <a:ext cx="867485" cy="115439"/>
            <a:chOff x="8910933" y="1861308"/>
            <a:chExt cx="867485" cy="115439"/>
          </a:xfrm>
        </p:grpSpPr>
        <p:sp>
          <p:nvSpPr>
            <p:cNvPr id="21" name="Rectangle 20">
              <a:extLst>
                <a:ext uri="{FF2B5EF4-FFF2-40B4-BE49-F238E27FC236}">
                  <a16:creationId xmlns:a16="http://schemas.microsoft.com/office/drawing/2014/main" id="{CDDEF0D5-EF9F-43D4-BF40-27A3121E02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22" name="Straight Connector 21">
              <a:extLst>
                <a:ext uri="{FF2B5EF4-FFF2-40B4-BE49-F238E27FC236}">
                  <a16:creationId xmlns:a16="http://schemas.microsoft.com/office/drawing/2014/main" id="{71438B34-2B34-4614-B3B4-D099271503B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C691BDB-93D3-4721-903C-45DD9590F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56662170"/>
      </p:ext>
    </p:extLst>
  </p:cSld>
  <p:clrMapOvr>
    <a:masterClrMapping/>
  </p:clrMapOvr>
</p:sld>
</file>

<file path=ppt/theme/theme1.xml><?xml version="1.0" encoding="utf-8"?>
<a:theme xmlns:a="http://schemas.openxmlformats.org/drawingml/2006/main" name="AdornVTI">
  <a:themeElements>
    <a:clrScheme name="GC1">
      <a:dk1>
        <a:sysClr val="windowText" lastClr="000000"/>
      </a:dk1>
      <a:lt1>
        <a:sysClr val="window" lastClr="FFFFFF"/>
      </a:lt1>
      <a:dk2>
        <a:srgbClr val="2C2830"/>
      </a:dk2>
      <a:lt2>
        <a:srgbClr val="E0DCE1"/>
      </a:lt2>
      <a:accent1>
        <a:srgbClr val="908193"/>
      </a:accent1>
      <a:accent2>
        <a:srgbClr val="A08889"/>
      </a:accent2>
      <a:accent3>
        <a:srgbClr val="B48C7E"/>
      </a:accent3>
      <a:accent4>
        <a:srgbClr val="809C9B"/>
      </a:accent4>
      <a:accent5>
        <a:srgbClr val="899F91"/>
      </a:accent5>
      <a:accent6>
        <a:srgbClr val="728274"/>
      </a:accent6>
      <a:hlink>
        <a:srgbClr val="837585"/>
      </a:hlink>
      <a:folHlink>
        <a:srgbClr val="677E83"/>
      </a:folHlink>
    </a:clrScheme>
    <a:fontScheme name="Bembo">
      <a:majorFont>
        <a:latin typeface="Bembo"/>
        <a:ea typeface=""/>
        <a:cs typeface=""/>
      </a:majorFont>
      <a:minorFont>
        <a:latin typeface="Bemb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dornVTI" id="{497E3FA9-5A27-4D12-9D04-917BEF3D1303}" vid="{34192A01-61CA-4566-9818-841C607496F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3FA5BAB54FED54D83BBF6AE88BCC155" ma:contentTypeVersion="11" ma:contentTypeDescription="Create a new document." ma:contentTypeScope="" ma:versionID="c3c09a4729808be2819b49bc2eac6408">
  <xsd:schema xmlns:xsd="http://www.w3.org/2001/XMLSchema" xmlns:xs="http://www.w3.org/2001/XMLSchema" xmlns:p="http://schemas.microsoft.com/office/2006/metadata/properties" xmlns:ns2="084d7059-8549-45da-be69-a3ca608a816d" xmlns:ns3="c0ab288b-8b0c-4782-9391-bec426032132" targetNamespace="http://schemas.microsoft.com/office/2006/metadata/properties" ma:root="true" ma:fieldsID="083b3853b7f5122e51c46ac73625643d" ns2:_="" ns3:_="">
    <xsd:import namespace="084d7059-8549-45da-be69-a3ca608a816d"/>
    <xsd:import namespace="c0ab288b-8b0c-4782-9391-bec42603213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4d7059-8549-45da-be69-a3ca608a81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16867a8-d3dd-450c-8722-94d742a2adf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0ab288b-8b0c-4782-9391-bec42603213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eb1a06b-7051-4405-b1f8-5a2e0f0721c5}" ma:internalName="TaxCatchAll" ma:showField="CatchAllData" ma:web="c0ab288b-8b0c-4782-9391-bec42603213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c0ab288b-8b0c-4782-9391-bec426032132"/>
    <lcf76f155ced4ddcb4097134ff3c332f xmlns="084d7059-8549-45da-be69-a3ca608a816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7BCA0A6-DE6B-4E6F-89B6-C6F3D3D43AAB}">
  <ds:schemaRefs>
    <ds:schemaRef ds:uri="http://schemas.microsoft.com/sharepoint/v3/contenttype/forms"/>
  </ds:schemaRefs>
</ds:datastoreItem>
</file>

<file path=customXml/itemProps2.xml><?xml version="1.0" encoding="utf-8"?>
<ds:datastoreItem xmlns:ds="http://schemas.openxmlformats.org/officeDocument/2006/customXml" ds:itemID="{9D54746C-4A66-4F00-B442-EF16BCC15B28}">
  <ds:schemaRefs>
    <ds:schemaRef ds:uri="084d7059-8549-45da-be69-a3ca608a816d"/>
    <ds:schemaRef ds:uri="c0ab288b-8b0c-4782-9391-bec42603213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5F019EF-937C-43DB-812E-7A8D8C5C9332}">
  <ds:schemaRefs>
    <ds:schemaRef ds:uri="084d7059-8549-45da-be69-a3ca608a816d"/>
    <ds:schemaRef ds:uri="c0ab288b-8b0c-4782-9391-bec42603213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0</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AdornVTI</vt:lpstr>
      <vt:lpstr>Thoughtdata: Opentelemetry Observability Dashboard</vt:lpstr>
      <vt:lpstr>Agenda</vt:lpstr>
      <vt:lpstr>Progress Summary</vt:lpstr>
      <vt:lpstr>Milestone Assessment/ Summary</vt:lpstr>
      <vt:lpstr>Milestone Assessment [Project Plan a. ]</vt:lpstr>
      <vt:lpstr>Milestone Assessment [Project Plan b. ]</vt:lpstr>
      <vt:lpstr>Milestone Assessment [Framework a.]</vt:lpstr>
      <vt:lpstr>Milestone Assessment [Framework b.]</vt:lpstr>
      <vt:lpstr>Milestone Assessment [Prototype]</vt:lpstr>
      <vt:lpstr>Milestone Assessment [Final System]</vt:lpstr>
      <vt:lpstr>Team Member Contributions</vt:lpstr>
      <vt:lpstr>Experiences/Challenges</vt:lpstr>
      <vt:lpstr>Gannt Chart</vt:lpstr>
      <vt:lpstr>Resource Overview</vt:lpstr>
      <vt:lpstr>Questions/ Concerns/ Feedback?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Dakobie Garcia</dc:creator>
  <cp:revision>1</cp:revision>
  <dcterms:created xsi:type="dcterms:W3CDTF">2025-12-01T14:11:36Z</dcterms:created>
  <dcterms:modified xsi:type="dcterms:W3CDTF">2025-12-03T21:06:14Z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0x01010003FA5BAB54FED54D83BBF6AE88BCC155</vt:lpwstr>
  </property>
  <property fmtid="{D5CDD505-2E9C-101B-9397-08002B2CF9AE}" pid="3" name="MediaServiceImageTags">
    <vt:lpwstr/>
  </property>
</Properties>
</file>